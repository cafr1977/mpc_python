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6"/>
  </p:notesMasterIdLst>
  <p:sldIdLst>
    <p:sldId id="256" r:id="rId2"/>
    <p:sldId id="269" r:id="rId3"/>
    <p:sldId id="291" r:id="rId4"/>
    <p:sldId id="292" r:id="rId5"/>
    <p:sldId id="293" r:id="rId6"/>
    <p:sldId id="259" r:id="rId7"/>
    <p:sldId id="270" r:id="rId8"/>
    <p:sldId id="300" r:id="rId9"/>
    <p:sldId id="268" r:id="rId10"/>
    <p:sldId id="284" r:id="rId11"/>
    <p:sldId id="286" r:id="rId12"/>
    <p:sldId id="287" r:id="rId13"/>
    <p:sldId id="283" r:id="rId14"/>
    <p:sldId id="290" r:id="rId15"/>
    <p:sldId id="285" r:id="rId16"/>
    <p:sldId id="294" r:id="rId17"/>
    <p:sldId id="288" r:id="rId18"/>
    <p:sldId id="258" r:id="rId19"/>
    <p:sldId id="263" r:id="rId20"/>
    <p:sldId id="264" r:id="rId21"/>
    <p:sldId id="265" r:id="rId22"/>
    <p:sldId id="296" r:id="rId23"/>
    <p:sldId id="257" r:id="rId24"/>
    <p:sldId id="267" r:id="rId25"/>
    <p:sldId id="295" r:id="rId26"/>
    <p:sldId id="272" r:id="rId27"/>
    <p:sldId id="276" r:id="rId28"/>
    <p:sldId id="261" r:id="rId29"/>
    <p:sldId id="275" r:id="rId30"/>
    <p:sldId id="271" r:id="rId31"/>
    <p:sldId id="277" r:id="rId32"/>
    <p:sldId id="274" r:id="rId33"/>
    <p:sldId id="301" r:id="rId34"/>
    <p:sldId id="302" r:id="rId35"/>
    <p:sldId id="303" r:id="rId36"/>
    <p:sldId id="273" r:id="rId37"/>
    <p:sldId id="281" r:id="rId38"/>
    <p:sldId id="289" r:id="rId39"/>
    <p:sldId id="262" r:id="rId40"/>
    <p:sldId id="305" r:id="rId41"/>
    <p:sldId id="306" r:id="rId42"/>
    <p:sldId id="278" r:id="rId43"/>
    <p:sldId id="279" r:id="rId44"/>
    <p:sldId id="297" r:id="rId45"/>
    <p:sldId id="266" r:id="rId46"/>
    <p:sldId id="280" r:id="rId47"/>
    <p:sldId id="308" r:id="rId48"/>
    <p:sldId id="304" r:id="rId49"/>
    <p:sldId id="309" r:id="rId50"/>
    <p:sldId id="310" r:id="rId51"/>
    <p:sldId id="307" r:id="rId52"/>
    <p:sldId id="311" r:id="rId53"/>
    <p:sldId id="312" r:id="rId54"/>
    <p:sldId id="313"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B4745B5-FB24-F12E-6940-7D7BB68A08CC}" name="Caroline Frischmon" initials="CF" userId="S::cafr1977@colorado.edu::7ac4321d-41f6-4b76-aaa9-71a303431d05"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874"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61" Type="http://schemas.microsoft.com/office/2018/10/relationships/authors" Target="author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FE8F5B-7F47-4366-A2B0-8CCEAC6F6877}" type="datetimeFigureOut">
              <a:rPr lang="en-US" smtClean="0"/>
              <a:t>4/30/2026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8E262D-DC25-47C7-A217-6F2F69211855}" type="slidenum">
              <a:rPr lang="en-US" smtClean="0"/>
              <a:t>‹#›</a:t>
            </a:fld>
            <a:endParaRPr lang="en-US"/>
          </a:p>
        </p:txBody>
      </p:sp>
    </p:spTree>
    <p:extLst>
      <p:ext uri="{BB962C8B-B14F-4D97-AF65-F5344CB8AC3E}">
        <p14:creationId xmlns:p14="http://schemas.microsoft.com/office/powerpoint/2010/main" val="3677355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48E262D-DC25-47C7-A217-6F2F69211855}" type="slidenum">
              <a:rPr lang="en-US" smtClean="0"/>
              <a:t>18</a:t>
            </a:fld>
            <a:endParaRPr lang="en-US"/>
          </a:p>
        </p:txBody>
      </p:sp>
    </p:spTree>
    <p:extLst>
      <p:ext uri="{BB962C8B-B14F-4D97-AF65-F5344CB8AC3E}">
        <p14:creationId xmlns:p14="http://schemas.microsoft.com/office/powerpoint/2010/main" val="24076198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636F7-7469-538A-9165-125CDA4A44E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FCEB65E-40FF-C302-182D-6FEB37A61A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7C3880F-1733-104E-FC8C-ECF28F70E2F2}"/>
              </a:ext>
            </a:extLst>
          </p:cNvPr>
          <p:cNvSpPr>
            <a:spLocks noGrp="1"/>
          </p:cNvSpPr>
          <p:nvPr>
            <p:ph type="dt" sz="half" idx="10"/>
          </p:nvPr>
        </p:nvSpPr>
        <p:spPr/>
        <p:txBody>
          <a:bodyPr/>
          <a:lstStyle/>
          <a:p>
            <a:fld id="{7CCA1097-0633-40FE-B0FF-3FB474FB32EF}" type="datetimeFigureOut">
              <a:rPr lang="en-US" smtClean="0"/>
              <a:t>4/30/2026</a:t>
            </a:fld>
            <a:endParaRPr lang="en-US"/>
          </a:p>
        </p:txBody>
      </p:sp>
      <p:sp>
        <p:nvSpPr>
          <p:cNvPr id="5" name="Footer Placeholder 4">
            <a:extLst>
              <a:ext uri="{FF2B5EF4-FFF2-40B4-BE49-F238E27FC236}">
                <a16:creationId xmlns:a16="http://schemas.microsoft.com/office/drawing/2014/main" id="{C6962840-0973-85B9-2C7C-9BC031DCEB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9D6A33-EE8D-A1BF-B4E7-BC77D3F7454F}"/>
              </a:ext>
            </a:extLst>
          </p:cNvPr>
          <p:cNvSpPr>
            <a:spLocks noGrp="1"/>
          </p:cNvSpPr>
          <p:nvPr>
            <p:ph type="sldNum" sz="quarter" idx="12"/>
          </p:nvPr>
        </p:nvSpPr>
        <p:spPr/>
        <p:txBody>
          <a:bodyPr/>
          <a:lstStyle/>
          <a:p>
            <a:fld id="{4725C3CC-4F4D-4375-A141-F81894E6F0E9}" type="slidenum">
              <a:rPr lang="en-US" smtClean="0"/>
              <a:t>‹#›</a:t>
            </a:fld>
            <a:endParaRPr lang="en-US"/>
          </a:p>
        </p:txBody>
      </p:sp>
    </p:spTree>
    <p:extLst>
      <p:ext uri="{BB962C8B-B14F-4D97-AF65-F5344CB8AC3E}">
        <p14:creationId xmlns:p14="http://schemas.microsoft.com/office/powerpoint/2010/main" val="1593946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C07C1-EA8C-B92F-DEBE-B753B6B1D54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A59A8D-144E-E872-A650-6D1B0C6D5B9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CBA722-F561-0FE9-AB78-30C829EB062C}"/>
              </a:ext>
            </a:extLst>
          </p:cNvPr>
          <p:cNvSpPr>
            <a:spLocks noGrp="1"/>
          </p:cNvSpPr>
          <p:nvPr>
            <p:ph type="dt" sz="half" idx="10"/>
          </p:nvPr>
        </p:nvSpPr>
        <p:spPr/>
        <p:txBody>
          <a:bodyPr/>
          <a:lstStyle/>
          <a:p>
            <a:fld id="{7CCA1097-0633-40FE-B0FF-3FB474FB32EF}" type="datetimeFigureOut">
              <a:rPr lang="en-US" smtClean="0"/>
              <a:t>4/30/2026</a:t>
            </a:fld>
            <a:endParaRPr lang="en-US"/>
          </a:p>
        </p:txBody>
      </p:sp>
      <p:sp>
        <p:nvSpPr>
          <p:cNvPr id="5" name="Footer Placeholder 4">
            <a:extLst>
              <a:ext uri="{FF2B5EF4-FFF2-40B4-BE49-F238E27FC236}">
                <a16:creationId xmlns:a16="http://schemas.microsoft.com/office/drawing/2014/main" id="{D094613F-FCD0-7669-25C3-1C7508C1FC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C3ED40-641E-DA50-A916-81EA37BF6109}"/>
              </a:ext>
            </a:extLst>
          </p:cNvPr>
          <p:cNvSpPr>
            <a:spLocks noGrp="1"/>
          </p:cNvSpPr>
          <p:nvPr>
            <p:ph type="sldNum" sz="quarter" idx="12"/>
          </p:nvPr>
        </p:nvSpPr>
        <p:spPr/>
        <p:txBody>
          <a:bodyPr/>
          <a:lstStyle/>
          <a:p>
            <a:fld id="{4725C3CC-4F4D-4375-A141-F81894E6F0E9}" type="slidenum">
              <a:rPr lang="en-US" smtClean="0"/>
              <a:t>‹#›</a:t>
            </a:fld>
            <a:endParaRPr lang="en-US"/>
          </a:p>
        </p:txBody>
      </p:sp>
    </p:spTree>
    <p:extLst>
      <p:ext uri="{BB962C8B-B14F-4D97-AF65-F5344CB8AC3E}">
        <p14:creationId xmlns:p14="http://schemas.microsoft.com/office/powerpoint/2010/main" val="2718864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0FFB7-0436-2905-6717-36FDE4A5852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65BCF5A-6409-7CC9-14B9-8E70A602F3C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F3B2EFC-3A40-8104-B858-4F78B8750869}"/>
              </a:ext>
            </a:extLst>
          </p:cNvPr>
          <p:cNvSpPr>
            <a:spLocks noGrp="1"/>
          </p:cNvSpPr>
          <p:nvPr>
            <p:ph type="dt" sz="half" idx="10"/>
          </p:nvPr>
        </p:nvSpPr>
        <p:spPr/>
        <p:txBody>
          <a:bodyPr/>
          <a:lstStyle/>
          <a:p>
            <a:fld id="{7CCA1097-0633-40FE-B0FF-3FB474FB32EF}" type="datetimeFigureOut">
              <a:rPr lang="en-US" smtClean="0"/>
              <a:t>4/30/2026</a:t>
            </a:fld>
            <a:endParaRPr lang="en-US"/>
          </a:p>
        </p:txBody>
      </p:sp>
      <p:sp>
        <p:nvSpPr>
          <p:cNvPr id="5" name="Footer Placeholder 4">
            <a:extLst>
              <a:ext uri="{FF2B5EF4-FFF2-40B4-BE49-F238E27FC236}">
                <a16:creationId xmlns:a16="http://schemas.microsoft.com/office/drawing/2014/main" id="{F27DAA61-813E-C029-4958-090B5BDFFD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4CD903-BBCE-D8D0-DB4D-76A682262621}"/>
              </a:ext>
            </a:extLst>
          </p:cNvPr>
          <p:cNvSpPr>
            <a:spLocks noGrp="1"/>
          </p:cNvSpPr>
          <p:nvPr>
            <p:ph type="sldNum" sz="quarter" idx="12"/>
          </p:nvPr>
        </p:nvSpPr>
        <p:spPr/>
        <p:txBody>
          <a:bodyPr/>
          <a:lstStyle/>
          <a:p>
            <a:fld id="{4725C3CC-4F4D-4375-A141-F81894E6F0E9}" type="slidenum">
              <a:rPr lang="en-US" smtClean="0"/>
              <a:t>‹#›</a:t>
            </a:fld>
            <a:endParaRPr lang="en-US"/>
          </a:p>
        </p:txBody>
      </p:sp>
    </p:spTree>
    <p:extLst>
      <p:ext uri="{BB962C8B-B14F-4D97-AF65-F5344CB8AC3E}">
        <p14:creationId xmlns:p14="http://schemas.microsoft.com/office/powerpoint/2010/main" val="8065307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53F78-0F13-A572-EE52-8132327844B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3ED7E8F-3D5D-8888-D0CF-7742AE535E5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B4E8CF3-5825-7CD1-D40C-1A50495C5EE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4D1E85E-CEB0-63A7-551B-445564893310}"/>
              </a:ext>
            </a:extLst>
          </p:cNvPr>
          <p:cNvSpPr>
            <a:spLocks noGrp="1"/>
          </p:cNvSpPr>
          <p:nvPr>
            <p:ph type="dt" sz="half" idx="10"/>
          </p:nvPr>
        </p:nvSpPr>
        <p:spPr/>
        <p:txBody>
          <a:bodyPr/>
          <a:lstStyle/>
          <a:p>
            <a:fld id="{7CCA1097-0633-40FE-B0FF-3FB474FB32EF}" type="datetimeFigureOut">
              <a:rPr lang="en-US" smtClean="0"/>
              <a:t>4/30/2026</a:t>
            </a:fld>
            <a:endParaRPr lang="en-US"/>
          </a:p>
        </p:txBody>
      </p:sp>
      <p:sp>
        <p:nvSpPr>
          <p:cNvPr id="6" name="Footer Placeholder 5">
            <a:extLst>
              <a:ext uri="{FF2B5EF4-FFF2-40B4-BE49-F238E27FC236}">
                <a16:creationId xmlns:a16="http://schemas.microsoft.com/office/drawing/2014/main" id="{EA675E07-FB5D-EB77-9679-0FB0033C86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BF767C5-1ABA-1661-FEA7-45505C292FA6}"/>
              </a:ext>
            </a:extLst>
          </p:cNvPr>
          <p:cNvSpPr>
            <a:spLocks noGrp="1"/>
          </p:cNvSpPr>
          <p:nvPr>
            <p:ph type="sldNum" sz="quarter" idx="12"/>
          </p:nvPr>
        </p:nvSpPr>
        <p:spPr/>
        <p:txBody>
          <a:bodyPr/>
          <a:lstStyle/>
          <a:p>
            <a:fld id="{4725C3CC-4F4D-4375-A141-F81894E6F0E9}" type="slidenum">
              <a:rPr lang="en-US" smtClean="0"/>
              <a:t>‹#›</a:t>
            </a:fld>
            <a:endParaRPr lang="en-US"/>
          </a:p>
        </p:txBody>
      </p:sp>
    </p:spTree>
    <p:extLst>
      <p:ext uri="{BB962C8B-B14F-4D97-AF65-F5344CB8AC3E}">
        <p14:creationId xmlns:p14="http://schemas.microsoft.com/office/powerpoint/2010/main" val="40112442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B1A2E-87C7-F7E7-5F34-6B7DCC345A7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CADB2CF-291A-AEA8-AC16-B3A4D34F5C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BC8EF4A-B917-3F5E-E442-9C83CC111CF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5D0CF20-3FB8-42CD-4834-AD37C11996B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AA839FE-8AB1-7AA7-177D-9ABFDC297CE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0D3FB28-46E6-26E7-6109-A2D2E380A326}"/>
              </a:ext>
            </a:extLst>
          </p:cNvPr>
          <p:cNvSpPr>
            <a:spLocks noGrp="1"/>
          </p:cNvSpPr>
          <p:nvPr>
            <p:ph type="dt" sz="half" idx="10"/>
          </p:nvPr>
        </p:nvSpPr>
        <p:spPr/>
        <p:txBody>
          <a:bodyPr/>
          <a:lstStyle/>
          <a:p>
            <a:fld id="{7CCA1097-0633-40FE-B0FF-3FB474FB32EF}" type="datetimeFigureOut">
              <a:rPr lang="en-US" smtClean="0"/>
              <a:t>4/30/2026</a:t>
            </a:fld>
            <a:endParaRPr lang="en-US"/>
          </a:p>
        </p:txBody>
      </p:sp>
      <p:sp>
        <p:nvSpPr>
          <p:cNvPr id="8" name="Footer Placeholder 7">
            <a:extLst>
              <a:ext uri="{FF2B5EF4-FFF2-40B4-BE49-F238E27FC236}">
                <a16:creationId xmlns:a16="http://schemas.microsoft.com/office/drawing/2014/main" id="{A51DDC57-4ED5-83B0-5586-88ACFF007E7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CF02B67-96A2-E397-95E9-7FF2788FDBC8}"/>
              </a:ext>
            </a:extLst>
          </p:cNvPr>
          <p:cNvSpPr>
            <a:spLocks noGrp="1"/>
          </p:cNvSpPr>
          <p:nvPr>
            <p:ph type="sldNum" sz="quarter" idx="12"/>
          </p:nvPr>
        </p:nvSpPr>
        <p:spPr/>
        <p:txBody>
          <a:bodyPr/>
          <a:lstStyle/>
          <a:p>
            <a:fld id="{4725C3CC-4F4D-4375-A141-F81894E6F0E9}" type="slidenum">
              <a:rPr lang="en-US" smtClean="0"/>
              <a:t>‹#›</a:t>
            </a:fld>
            <a:endParaRPr lang="en-US"/>
          </a:p>
        </p:txBody>
      </p:sp>
    </p:spTree>
    <p:extLst>
      <p:ext uri="{BB962C8B-B14F-4D97-AF65-F5344CB8AC3E}">
        <p14:creationId xmlns:p14="http://schemas.microsoft.com/office/powerpoint/2010/main" val="15297602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FA7A6-77D1-BD7B-61E0-07B30FF7686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400CF46-3318-9558-02DE-CFFF009C1986}"/>
              </a:ext>
            </a:extLst>
          </p:cNvPr>
          <p:cNvSpPr>
            <a:spLocks noGrp="1"/>
          </p:cNvSpPr>
          <p:nvPr>
            <p:ph type="dt" sz="half" idx="10"/>
          </p:nvPr>
        </p:nvSpPr>
        <p:spPr/>
        <p:txBody>
          <a:bodyPr/>
          <a:lstStyle/>
          <a:p>
            <a:fld id="{7CCA1097-0633-40FE-B0FF-3FB474FB32EF}" type="datetimeFigureOut">
              <a:rPr lang="en-US" smtClean="0"/>
              <a:t>4/30/2026</a:t>
            </a:fld>
            <a:endParaRPr lang="en-US"/>
          </a:p>
        </p:txBody>
      </p:sp>
      <p:sp>
        <p:nvSpPr>
          <p:cNvPr id="4" name="Footer Placeholder 3">
            <a:extLst>
              <a:ext uri="{FF2B5EF4-FFF2-40B4-BE49-F238E27FC236}">
                <a16:creationId xmlns:a16="http://schemas.microsoft.com/office/drawing/2014/main" id="{D9972883-520A-A6D0-3A3E-82699F44FF1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E482224-DF31-1BFD-F5B6-50126C923102}"/>
              </a:ext>
            </a:extLst>
          </p:cNvPr>
          <p:cNvSpPr>
            <a:spLocks noGrp="1"/>
          </p:cNvSpPr>
          <p:nvPr>
            <p:ph type="sldNum" sz="quarter" idx="12"/>
          </p:nvPr>
        </p:nvSpPr>
        <p:spPr/>
        <p:txBody>
          <a:bodyPr/>
          <a:lstStyle/>
          <a:p>
            <a:fld id="{4725C3CC-4F4D-4375-A141-F81894E6F0E9}" type="slidenum">
              <a:rPr lang="en-US" smtClean="0"/>
              <a:t>‹#›</a:t>
            </a:fld>
            <a:endParaRPr lang="en-US"/>
          </a:p>
        </p:txBody>
      </p:sp>
    </p:spTree>
    <p:extLst>
      <p:ext uri="{BB962C8B-B14F-4D97-AF65-F5344CB8AC3E}">
        <p14:creationId xmlns:p14="http://schemas.microsoft.com/office/powerpoint/2010/main" val="27471716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52FC00C-21ED-DCDE-93DB-1C3E6BCA7FD1}"/>
              </a:ext>
            </a:extLst>
          </p:cNvPr>
          <p:cNvSpPr>
            <a:spLocks noGrp="1"/>
          </p:cNvSpPr>
          <p:nvPr>
            <p:ph type="dt" sz="half" idx="10"/>
          </p:nvPr>
        </p:nvSpPr>
        <p:spPr/>
        <p:txBody>
          <a:bodyPr/>
          <a:lstStyle/>
          <a:p>
            <a:fld id="{7CCA1097-0633-40FE-B0FF-3FB474FB32EF}" type="datetimeFigureOut">
              <a:rPr lang="en-US" smtClean="0"/>
              <a:t>4/30/2026</a:t>
            </a:fld>
            <a:endParaRPr lang="en-US"/>
          </a:p>
        </p:txBody>
      </p:sp>
      <p:sp>
        <p:nvSpPr>
          <p:cNvPr id="3" name="Footer Placeholder 2">
            <a:extLst>
              <a:ext uri="{FF2B5EF4-FFF2-40B4-BE49-F238E27FC236}">
                <a16:creationId xmlns:a16="http://schemas.microsoft.com/office/drawing/2014/main" id="{6F29E42F-A15F-F26F-90E1-0FA0A25890C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418C2BC-10E0-1CDF-23C1-0F64150DD078}"/>
              </a:ext>
            </a:extLst>
          </p:cNvPr>
          <p:cNvSpPr>
            <a:spLocks noGrp="1"/>
          </p:cNvSpPr>
          <p:nvPr>
            <p:ph type="sldNum" sz="quarter" idx="12"/>
          </p:nvPr>
        </p:nvSpPr>
        <p:spPr/>
        <p:txBody>
          <a:bodyPr/>
          <a:lstStyle/>
          <a:p>
            <a:fld id="{4725C3CC-4F4D-4375-A141-F81894E6F0E9}" type="slidenum">
              <a:rPr lang="en-US" smtClean="0"/>
              <a:t>‹#›</a:t>
            </a:fld>
            <a:endParaRPr lang="en-US"/>
          </a:p>
        </p:txBody>
      </p:sp>
    </p:spTree>
    <p:extLst>
      <p:ext uri="{BB962C8B-B14F-4D97-AF65-F5344CB8AC3E}">
        <p14:creationId xmlns:p14="http://schemas.microsoft.com/office/powerpoint/2010/main" val="14214454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65C7D-85F4-E442-CE6E-E3DD538203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6E2A0E2-DD6A-4F55-0BE8-80398A7358A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AFC52B0-CE80-1673-C1A1-81F5C6D356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B39703-2028-3076-F6E4-20B0DB6B8A44}"/>
              </a:ext>
            </a:extLst>
          </p:cNvPr>
          <p:cNvSpPr>
            <a:spLocks noGrp="1"/>
          </p:cNvSpPr>
          <p:nvPr>
            <p:ph type="dt" sz="half" idx="10"/>
          </p:nvPr>
        </p:nvSpPr>
        <p:spPr/>
        <p:txBody>
          <a:bodyPr/>
          <a:lstStyle/>
          <a:p>
            <a:fld id="{7CCA1097-0633-40FE-B0FF-3FB474FB32EF}" type="datetimeFigureOut">
              <a:rPr lang="en-US" smtClean="0"/>
              <a:t>4/30/2026</a:t>
            </a:fld>
            <a:endParaRPr lang="en-US"/>
          </a:p>
        </p:txBody>
      </p:sp>
      <p:sp>
        <p:nvSpPr>
          <p:cNvPr id="6" name="Footer Placeholder 5">
            <a:extLst>
              <a:ext uri="{FF2B5EF4-FFF2-40B4-BE49-F238E27FC236}">
                <a16:creationId xmlns:a16="http://schemas.microsoft.com/office/drawing/2014/main" id="{C0747AC2-68A1-7E56-1C41-60CE2D7AA1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E101E7-6398-8341-10C7-579973EF79AE}"/>
              </a:ext>
            </a:extLst>
          </p:cNvPr>
          <p:cNvSpPr>
            <a:spLocks noGrp="1"/>
          </p:cNvSpPr>
          <p:nvPr>
            <p:ph type="sldNum" sz="quarter" idx="12"/>
          </p:nvPr>
        </p:nvSpPr>
        <p:spPr/>
        <p:txBody>
          <a:bodyPr/>
          <a:lstStyle/>
          <a:p>
            <a:fld id="{4725C3CC-4F4D-4375-A141-F81894E6F0E9}" type="slidenum">
              <a:rPr lang="en-US" smtClean="0"/>
              <a:t>‹#›</a:t>
            </a:fld>
            <a:endParaRPr lang="en-US"/>
          </a:p>
        </p:txBody>
      </p:sp>
    </p:spTree>
    <p:extLst>
      <p:ext uri="{BB962C8B-B14F-4D97-AF65-F5344CB8AC3E}">
        <p14:creationId xmlns:p14="http://schemas.microsoft.com/office/powerpoint/2010/main" val="9044581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11A58-4ADF-766E-DF12-D99842C54E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CB97592-9E1C-8DA8-A345-4E6B24F87D1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719677B-7586-1AB8-339A-AA082BB82F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C78E34A-A436-7C3A-A1F7-2FCA665A16B9}"/>
              </a:ext>
            </a:extLst>
          </p:cNvPr>
          <p:cNvSpPr>
            <a:spLocks noGrp="1"/>
          </p:cNvSpPr>
          <p:nvPr>
            <p:ph type="dt" sz="half" idx="10"/>
          </p:nvPr>
        </p:nvSpPr>
        <p:spPr/>
        <p:txBody>
          <a:bodyPr/>
          <a:lstStyle/>
          <a:p>
            <a:fld id="{7CCA1097-0633-40FE-B0FF-3FB474FB32EF}" type="datetimeFigureOut">
              <a:rPr lang="en-US" smtClean="0"/>
              <a:t>4/30/2026</a:t>
            </a:fld>
            <a:endParaRPr lang="en-US"/>
          </a:p>
        </p:txBody>
      </p:sp>
      <p:sp>
        <p:nvSpPr>
          <p:cNvPr id="6" name="Footer Placeholder 5">
            <a:extLst>
              <a:ext uri="{FF2B5EF4-FFF2-40B4-BE49-F238E27FC236}">
                <a16:creationId xmlns:a16="http://schemas.microsoft.com/office/drawing/2014/main" id="{EEAB226C-8174-F373-9F14-E1A8A5E84B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502AA3-8B99-75DC-835B-CC13EF950329}"/>
              </a:ext>
            </a:extLst>
          </p:cNvPr>
          <p:cNvSpPr>
            <a:spLocks noGrp="1"/>
          </p:cNvSpPr>
          <p:nvPr>
            <p:ph type="sldNum" sz="quarter" idx="12"/>
          </p:nvPr>
        </p:nvSpPr>
        <p:spPr/>
        <p:txBody>
          <a:bodyPr/>
          <a:lstStyle/>
          <a:p>
            <a:fld id="{4725C3CC-4F4D-4375-A141-F81894E6F0E9}" type="slidenum">
              <a:rPr lang="en-US" smtClean="0"/>
              <a:t>‹#›</a:t>
            </a:fld>
            <a:endParaRPr lang="en-US"/>
          </a:p>
        </p:txBody>
      </p:sp>
    </p:spTree>
    <p:extLst>
      <p:ext uri="{BB962C8B-B14F-4D97-AF65-F5344CB8AC3E}">
        <p14:creationId xmlns:p14="http://schemas.microsoft.com/office/powerpoint/2010/main" val="26458437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A322C-5F36-C816-2F11-F43BE1BAE5A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74EE630-D041-1AAF-7967-475D7F3800B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CF6A07-9ED4-F200-7E88-44060EB92AF5}"/>
              </a:ext>
            </a:extLst>
          </p:cNvPr>
          <p:cNvSpPr>
            <a:spLocks noGrp="1"/>
          </p:cNvSpPr>
          <p:nvPr>
            <p:ph type="dt" sz="half" idx="10"/>
          </p:nvPr>
        </p:nvSpPr>
        <p:spPr/>
        <p:txBody>
          <a:bodyPr/>
          <a:lstStyle/>
          <a:p>
            <a:fld id="{7CCA1097-0633-40FE-B0FF-3FB474FB32EF}" type="datetimeFigureOut">
              <a:rPr lang="en-US" smtClean="0"/>
              <a:t>4/30/2026</a:t>
            </a:fld>
            <a:endParaRPr lang="en-US"/>
          </a:p>
        </p:txBody>
      </p:sp>
      <p:sp>
        <p:nvSpPr>
          <p:cNvPr id="5" name="Footer Placeholder 4">
            <a:extLst>
              <a:ext uri="{FF2B5EF4-FFF2-40B4-BE49-F238E27FC236}">
                <a16:creationId xmlns:a16="http://schemas.microsoft.com/office/drawing/2014/main" id="{66A87262-E950-19C1-9FE0-BE78ED3C76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E63EDB-0CF0-607F-FD83-3749512B2E6E}"/>
              </a:ext>
            </a:extLst>
          </p:cNvPr>
          <p:cNvSpPr>
            <a:spLocks noGrp="1"/>
          </p:cNvSpPr>
          <p:nvPr>
            <p:ph type="sldNum" sz="quarter" idx="12"/>
          </p:nvPr>
        </p:nvSpPr>
        <p:spPr/>
        <p:txBody>
          <a:bodyPr/>
          <a:lstStyle/>
          <a:p>
            <a:fld id="{4725C3CC-4F4D-4375-A141-F81894E6F0E9}" type="slidenum">
              <a:rPr lang="en-US" smtClean="0"/>
              <a:t>‹#›</a:t>
            </a:fld>
            <a:endParaRPr lang="en-US"/>
          </a:p>
        </p:txBody>
      </p:sp>
    </p:spTree>
    <p:extLst>
      <p:ext uri="{BB962C8B-B14F-4D97-AF65-F5344CB8AC3E}">
        <p14:creationId xmlns:p14="http://schemas.microsoft.com/office/powerpoint/2010/main" val="465537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B17424-ECE7-FE94-A087-58D19E6F385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F5B154-0D60-4C9D-0E18-77141B211F7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D01AD0-4F0B-F074-CE81-59ABC424D33B}"/>
              </a:ext>
            </a:extLst>
          </p:cNvPr>
          <p:cNvSpPr>
            <a:spLocks noGrp="1"/>
          </p:cNvSpPr>
          <p:nvPr>
            <p:ph type="dt" sz="half" idx="10"/>
          </p:nvPr>
        </p:nvSpPr>
        <p:spPr/>
        <p:txBody>
          <a:bodyPr/>
          <a:lstStyle/>
          <a:p>
            <a:fld id="{7CCA1097-0633-40FE-B0FF-3FB474FB32EF}" type="datetimeFigureOut">
              <a:rPr lang="en-US" smtClean="0"/>
              <a:t>4/30/2026</a:t>
            </a:fld>
            <a:endParaRPr lang="en-US"/>
          </a:p>
        </p:txBody>
      </p:sp>
      <p:sp>
        <p:nvSpPr>
          <p:cNvPr id="5" name="Footer Placeholder 4">
            <a:extLst>
              <a:ext uri="{FF2B5EF4-FFF2-40B4-BE49-F238E27FC236}">
                <a16:creationId xmlns:a16="http://schemas.microsoft.com/office/drawing/2014/main" id="{9EC0E84C-8B79-89B2-084D-B76415F664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5D2BFD-0EE9-CEE4-7D24-B5E3D99330DB}"/>
              </a:ext>
            </a:extLst>
          </p:cNvPr>
          <p:cNvSpPr>
            <a:spLocks noGrp="1"/>
          </p:cNvSpPr>
          <p:nvPr>
            <p:ph type="sldNum" sz="quarter" idx="12"/>
          </p:nvPr>
        </p:nvSpPr>
        <p:spPr/>
        <p:txBody>
          <a:bodyPr/>
          <a:lstStyle/>
          <a:p>
            <a:fld id="{4725C3CC-4F4D-4375-A141-F81894E6F0E9}" type="slidenum">
              <a:rPr lang="en-US" smtClean="0"/>
              <a:t>‹#›</a:t>
            </a:fld>
            <a:endParaRPr lang="en-US"/>
          </a:p>
        </p:txBody>
      </p:sp>
    </p:spTree>
    <p:extLst>
      <p:ext uri="{BB962C8B-B14F-4D97-AF65-F5344CB8AC3E}">
        <p14:creationId xmlns:p14="http://schemas.microsoft.com/office/powerpoint/2010/main" val="37868518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8C0CA45-AC90-2498-3E3A-AA039CC2E4C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F088434-3EAD-0F94-B6B9-8BF7023FC23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3BA9FC-F84F-2C58-F516-B4DE8AE626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CCA1097-0633-40FE-B0FF-3FB474FB32EF}" type="datetimeFigureOut">
              <a:rPr lang="en-US" smtClean="0"/>
              <a:t>4/30/2026</a:t>
            </a:fld>
            <a:endParaRPr lang="en-US"/>
          </a:p>
        </p:txBody>
      </p:sp>
      <p:sp>
        <p:nvSpPr>
          <p:cNvPr id="5" name="Footer Placeholder 4">
            <a:extLst>
              <a:ext uri="{FF2B5EF4-FFF2-40B4-BE49-F238E27FC236}">
                <a16:creationId xmlns:a16="http://schemas.microsoft.com/office/drawing/2014/main" id="{7432FFAA-B0E7-4787-9A7F-5BB468E047C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F913AA9-848A-592C-A658-C5B3687646F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25C3CC-4F4D-4375-A141-F81894E6F0E9}" type="slidenum">
              <a:rPr lang="en-US" smtClean="0"/>
              <a:t>‹#›</a:t>
            </a:fld>
            <a:endParaRPr lang="en-US"/>
          </a:p>
        </p:txBody>
      </p:sp>
    </p:spTree>
    <p:extLst>
      <p:ext uri="{BB962C8B-B14F-4D97-AF65-F5344CB8AC3E}">
        <p14:creationId xmlns:p14="http://schemas.microsoft.com/office/powerpoint/2010/main" val="35414721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www.git-scm.com/download/win"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https://amt.copernicus.org/articles/18/3147/2025/"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41A5DC-8AE4-F496-402F-61B200E14DA1}"/>
              </a:ext>
            </a:extLst>
          </p:cNvPr>
          <p:cNvSpPr>
            <a:spLocks noGrp="1"/>
          </p:cNvSpPr>
          <p:nvPr>
            <p:ph type="ctrTitle"/>
          </p:nvPr>
        </p:nvSpPr>
        <p:spPr>
          <a:xfrm>
            <a:off x="1233948" y="1142028"/>
            <a:ext cx="9724103" cy="2387600"/>
          </a:xfrm>
        </p:spPr>
        <p:txBody>
          <a:bodyPr>
            <a:normAutofit fontScale="90000"/>
          </a:bodyPr>
          <a:lstStyle/>
          <a:p>
            <a:r>
              <a:rPr lang="en-US" dirty="0"/>
              <a:t>Python 1-Hop, 1-cal, individual </a:t>
            </a:r>
            <a:r>
              <a:rPr lang="en-US" dirty="0" err="1"/>
              <a:t>cal</a:t>
            </a:r>
            <a:r>
              <a:rPr lang="en-US" dirty="0"/>
              <a:t> </a:t>
            </a:r>
            <a:br>
              <a:rPr lang="en-US" dirty="0"/>
            </a:br>
            <a:r>
              <a:rPr lang="en-US" dirty="0"/>
              <a:t>Main Pod Code</a:t>
            </a:r>
          </a:p>
        </p:txBody>
      </p:sp>
      <p:sp>
        <p:nvSpPr>
          <p:cNvPr id="3" name="Subtitle 2">
            <a:extLst>
              <a:ext uri="{FF2B5EF4-FFF2-40B4-BE49-F238E27FC236}">
                <a16:creationId xmlns:a16="http://schemas.microsoft.com/office/drawing/2014/main" id="{BAD15B62-7058-6351-40FF-F9F005006684}"/>
              </a:ext>
            </a:extLst>
          </p:cNvPr>
          <p:cNvSpPr>
            <a:spLocks noGrp="1"/>
          </p:cNvSpPr>
          <p:nvPr>
            <p:ph type="subTitle" idx="1"/>
          </p:nvPr>
        </p:nvSpPr>
        <p:spPr/>
        <p:txBody>
          <a:bodyPr>
            <a:normAutofit/>
          </a:bodyPr>
          <a:lstStyle/>
          <a:p>
            <a:r>
              <a:rPr lang="en-US" dirty="0"/>
              <a:t>Caroline</a:t>
            </a:r>
          </a:p>
          <a:p>
            <a:r>
              <a:rPr lang="en-US" dirty="0"/>
              <a:t>4/6/2026</a:t>
            </a:r>
          </a:p>
        </p:txBody>
      </p:sp>
    </p:spTree>
    <p:extLst>
      <p:ext uri="{BB962C8B-B14F-4D97-AF65-F5344CB8AC3E}">
        <p14:creationId xmlns:p14="http://schemas.microsoft.com/office/powerpoint/2010/main" val="14422793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36A63-A77E-D01B-4090-24139E14B55A}"/>
              </a:ext>
            </a:extLst>
          </p:cNvPr>
          <p:cNvSpPr>
            <a:spLocks noGrp="1"/>
          </p:cNvSpPr>
          <p:nvPr>
            <p:ph type="title"/>
          </p:nvPr>
        </p:nvSpPr>
        <p:spPr/>
        <p:txBody>
          <a:bodyPr/>
          <a:lstStyle/>
          <a:p>
            <a:r>
              <a:rPr lang="en-US" dirty="0"/>
              <a:t>What this code accomplishes so far:</a:t>
            </a:r>
          </a:p>
        </p:txBody>
      </p:sp>
      <p:sp>
        <p:nvSpPr>
          <p:cNvPr id="3" name="Content Placeholder 2">
            <a:extLst>
              <a:ext uri="{FF2B5EF4-FFF2-40B4-BE49-F238E27FC236}">
                <a16:creationId xmlns:a16="http://schemas.microsoft.com/office/drawing/2014/main" id="{280C269A-3CFB-90AF-6049-8B4F43D9C96E}"/>
              </a:ext>
            </a:extLst>
          </p:cNvPr>
          <p:cNvSpPr>
            <a:spLocks noGrp="1"/>
          </p:cNvSpPr>
          <p:nvPr>
            <p:ph idx="1"/>
          </p:nvPr>
        </p:nvSpPr>
        <p:spPr>
          <a:xfrm>
            <a:off x="838200" y="1825624"/>
            <a:ext cx="10515600" cy="4807931"/>
          </a:xfrm>
        </p:spPr>
        <p:txBody>
          <a:bodyPr>
            <a:normAutofit fontScale="92500" lnSpcReduction="20000"/>
          </a:bodyPr>
          <a:lstStyle/>
          <a:p>
            <a:r>
              <a:rPr lang="en-US" b="1" dirty="0"/>
              <a:t>Data preprocessing</a:t>
            </a:r>
          </a:p>
          <a:p>
            <a:pPr lvl="1"/>
            <a:r>
              <a:rPr lang="en-US" dirty="0"/>
              <a:t>Crop data to deployment log start and end times</a:t>
            </a:r>
          </a:p>
          <a:p>
            <a:pPr lvl="1"/>
            <a:r>
              <a:rPr lang="en-US" dirty="0"/>
              <a:t>Combine pod data files that may have different columns</a:t>
            </a:r>
          </a:p>
          <a:p>
            <a:pPr lvl="1"/>
            <a:r>
              <a:rPr lang="en-US" dirty="0"/>
              <a:t>TempC2K, HumRel2Abs, Rmv999, </a:t>
            </a:r>
            <a:r>
              <a:rPr lang="en-US" dirty="0" err="1"/>
              <a:t>RmvNaN</a:t>
            </a:r>
            <a:r>
              <a:rPr lang="en-US" dirty="0"/>
              <a:t>, </a:t>
            </a:r>
            <a:r>
              <a:rPr lang="en-US" dirty="0" err="1"/>
              <a:t>TimeSort</a:t>
            </a:r>
            <a:r>
              <a:rPr lang="en-US" dirty="0"/>
              <a:t>, </a:t>
            </a:r>
            <a:r>
              <a:rPr lang="en-US" dirty="0" err="1"/>
              <a:t>RmvWarmup</a:t>
            </a:r>
            <a:r>
              <a:rPr lang="en-US" dirty="0"/>
              <a:t>, </a:t>
            </a:r>
            <a:r>
              <a:rPr lang="en-US" dirty="0" err="1"/>
              <a:t>add_time_elapsed</a:t>
            </a:r>
            <a:r>
              <a:rPr lang="en-US" dirty="0"/>
              <a:t>, and others</a:t>
            </a:r>
          </a:p>
          <a:p>
            <a:pPr lvl="1"/>
            <a:r>
              <a:rPr lang="en-US" dirty="0"/>
              <a:t>Time averaging (mean or median, but must be the same between ref and pod)</a:t>
            </a:r>
          </a:p>
          <a:p>
            <a:pPr lvl="1"/>
            <a:r>
              <a:rPr lang="en-US" dirty="0"/>
              <a:t>Fig 2600/2602 ratio</a:t>
            </a:r>
          </a:p>
          <a:p>
            <a:pPr lvl="1"/>
            <a:r>
              <a:rPr lang="en-US" dirty="0"/>
              <a:t>Interaction terms</a:t>
            </a:r>
          </a:p>
          <a:p>
            <a:pPr lvl="2"/>
            <a:r>
              <a:rPr lang="en-US" dirty="0"/>
              <a:t>Multiplies each sensor combo, so with CO, temp, humid sensors, you’ll add CO*temp, CO*humid, and temp*humid </a:t>
            </a:r>
          </a:p>
          <a:p>
            <a:r>
              <a:rPr lang="en-US" b="1" dirty="0"/>
              <a:t>For one hop, harmonization of sensors to colocation pod sensors</a:t>
            </a:r>
          </a:p>
          <a:p>
            <a:pPr lvl="1"/>
            <a:r>
              <a:rPr lang="en-US" dirty="0"/>
              <a:t>Different than </a:t>
            </a:r>
            <a:r>
              <a:rPr lang="en-US" dirty="0" err="1"/>
              <a:t>matlab</a:t>
            </a:r>
            <a:r>
              <a:rPr lang="en-US" dirty="0"/>
              <a:t> one-hop, which calibrates pods to a concentration timeseries from the colocation pod</a:t>
            </a:r>
          </a:p>
          <a:p>
            <a:pPr lvl="1"/>
            <a:r>
              <a:rPr lang="en-US" dirty="0"/>
              <a:t>Only uses linear regression</a:t>
            </a:r>
          </a:p>
          <a:p>
            <a:pPr lvl="1"/>
            <a:r>
              <a:rPr lang="en-US" dirty="0"/>
              <a:t>Uses K-fold cross validation</a:t>
            </a:r>
          </a:p>
          <a:p>
            <a:endParaRPr lang="en-US" dirty="0"/>
          </a:p>
        </p:txBody>
      </p:sp>
    </p:spTree>
    <p:extLst>
      <p:ext uri="{BB962C8B-B14F-4D97-AF65-F5344CB8AC3E}">
        <p14:creationId xmlns:p14="http://schemas.microsoft.com/office/powerpoint/2010/main" val="11212516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0A471-62C3-28D3-5487-A85A72DF76A8}"/>
              </a:ext>
            </a:extLst>
          </p:cNvPr>
          <p:cNvSpPr>
            <a:spLocks noGrp="1"/>
          </p:cNvSpPr>
          <p:nvPr>
            <p:ph type="title"/>
          </p:nvPr>
        </p:nvSpPr>
        <p:spPr>
          <a:xfrm>
            <a:off x="363795" y="365125"/>
            <a:ext cx="11503740" cy="1325563"/>
          </a:xfrm>
        </p:spPr>
        <p:txBody>
          <a:bodyPr/>
          <a:lstStyle/>
          <a:p>
            <a:r>
              <a:rPr lang="en-US" dirty="0"/>
              <a:t>Illustrating the difference in 1-hop harmonization </a:t>
            </a:r>
          </a:p>
        </p:txBody>
      </p:sp>
      <p:pic>
        <p:nvPicPr>
          <p:cNvPr id="5" name="Picture 4">
            <a:extLst>
              <a:ext uri="{FF2B5EF4-FFF2-40B4-BE49-F238E27FC236}">
                <a16:creationId xmlns:a16="http://schemas.microsoft.com/office/drawing/2014/main" id="{FCDB1F94-96BE-5B00-0350-ABD7B155F42F}"/>
              </a:ext>
            </a:extLst>
          </p:cNvPr>
          <p:cNvPicPr>
            <a:picLocks noChangeAspect="1"/>
          </p:cNvPicPr>
          <p:nvPr/>
        </p:nvPicPr>
        <p:blipFill>
          <a:blip r:embed="rId2"/>
          <a:stretch>
            <a:fillRect/>
          </a:stretch>
        </p:blipFill>
        <p:spPr>
          <a:xfrm>
            <a:off x="2780152" y="2643792"/>
            <a:ext cx="7230484" cy="2715004"/>
          </a:xfrm>
          <a:prstGeom prst="rect">
            <a:avLst/>
          </a:prstGeom>
        </p:spPr>
      </p:pic>
      <p:sp>
        <p:nvSpPr>
          <p:cNvPr id="6" name="TextBox 5">
            <a:extLst>
              <a:ext uri="{FF2B5EF4-FFF2-40B4-BE49-F238E27FC236}">
                <a16:creationId xmlns:a16="http://schemas.microsoft.com/office/drawing/2014/main" id="{15C38656-6255-1085-9554-122FD4923EAA}"/>
              </a:ext>
            </a:extLst>
          </p:cNvPr>
          <p:cNvSpPr txBox="1"/>
          <p:nvPr/>
        </p:nvSpPr>
        <p:spPr>
          <a:xfrm>
            <a:off x="3781425" y="2026746"/>
            <a:ext cx="5600700" cy="369332"/>
          </a:xfrm>
          <a:prstGeom prst="rect">
            <a:avLst/>
          </a:prstGeom>
          <a:noFill/>
        </p:spPr>
        <p:txBody>
          <a:bodyPr wrap="square" rtlCol="0">
            <a:spAutoFit/>
          </a:bodyPr>
          <a:lstStyle/>
          <a:p>
            <a:r>
              <a:rPr lang="en-US" dirty="0"/>
              <a:t>Colocation step, the same in both </a:t>
            </a:r>
            <a:r>
              <a:rPr lang="en-US" dirty="0" err="1"/>
              <a:t>Matlab</a:t>
            </a:r>
            <a:r>
              <a:rPr lang="en-US" dirty="0"/>
              <a:t> and Python</a:t>
            </a:r>
          </a:p>
        </p:txBody>
      </p:sp>
    </p:spTree>
    <p:extLst>
      <p:ext uri="{BB962C8B-B14F-4D97-AF65-F5344CB8AC3E}">
        <p14:creationId xmlns:p14="http://schemas.microsoft.com/office/powerpoint/2010/main" val="39538555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0A471-62C3-28D3-5487-A85A72DF76A8}"/>
              </a:ext>
            </a:extLst>
          </p:cNvPr>
          <p:cNvSpPr>
            <a:spLocks noGrp="1"/>
          </p:cNvSpPr>
          <p:nvPr>
            <p:ph type="title"/>
          </p:nvPr>
        </p:nvSpPr>
        <p:spPr/>
        <p:txBody>
          <a:bodyPr/>
          <a:lstStyle/>
          <a:p>
            <a:r>
              <a:rPr lang="en-US" dirty="0"/>
              <a:t>Colocation 2 (the “Hop”) in </a:t>
            </a:r>
            <a:r>
              <a:rPr lang="en-US" dirty="0" err="1"/>
              <a:t>Matlab</a:t>
            </a:r>
            <a:endParaRPr lang="en-US" dirty="0"/>
          </a:p>
        </p:txBody>
      </p:sp>
      <p:pic>
        <p:nvPicPr>
          <p:cNvPr id="8" name="Picture 7">
            <a:extLst>
              <a:ext uri="{FF2B5EF4-FFF2-40B4-BE49-F238E27FC236}">
                <a16:creationId xmlns:a16="http://schemas.microsoft.com/office/drawing/2014/main" id="{C3429BA4-E0FD-9869-6C98-E8DF56C8662A}"/>
              </a:ext>
            </a:extLst>
          </p:cNvPr>
          <p:cNvPicPr>
            <a:picLocks noChangeAspect="1"/>
          </p:cNvPicPr>
          <p:nvPr/>
        </p:nvPicPr>
        <p:blipFill rotWithShape="1">
          <a:blip r:embed="rId2"/>
          <a:srcRect t="28702"/>
          <a:stretch/>
        </p:blipFill>
        <p:spPr>
          <a:xfrm>
            <a:off x="560688" y="1960605"/>
            <a:ext cx="10363200" cy="3388484"/>
          </a:xfrm>
          <a:prstGeom prst="rect">
            <a:avLst/>
          </a:prstGeom>
        </p:spPr>
      </p:pic>
    </p:spTree>
    <p:extLst>
      <p:ext uri="{BB962C8B-B14F-4D97-AF65-F5344CB8AC3E}">
        <p14:creationId xmlns:p14="http://schemas.microsoft.com/office/powerpoint/2010/main" val="22352144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96C09-06E3-901D-2555-8AF5F5F72E3F}"/>
              </a:ext>
            </a:extLst>
          </p:cNvPr>
          <p:cNvSpPr>
            <a:spLocks noGrp="1"/>
          </p:cNvSpPr>
          <p:nvPr>
            <p:ph type="title"/>
          </p:nvPr>
        </p:nvSpPr>
        <p:spPr/>
        <p:txBody>
          <a:bodyPr/>
          <a:lstStyle/>
          <a:p>
            <a:r>
              <a:rPr lang="en-US" dirty="0"/>
              <a:t>Harmonization in Python</a:t>
            </a:r>
          </a:p>
        </p:txBody>
      </p:sp>
      <p:pic>
        <p:nvPicPr>
          <p:cNvPr id="5" name="Picture 4">
            <a:extLst>
              <a:ext uri="{FF2B5EF4-FFF2-40B4-BE49-F238E27FC236}">
                <a16:creationId xmlns:a16="http://schemas.microsoft.com/office/drawing/2014/main" id="{4C5169F2-3377-7299-2D64-0B128F73A676}"/>
              </a:ext>
            </a:extLst>
          </p:cNvPr>
          <p:cNvPicPr>
            <a:picLocks noChangeAspect="1"/>
          </p:cNvPicPr>
          <p:nvPr/>
        </p:nvPicPr>
        <p:blipFill>
          <a:blip r:embed="rId2"/>
          <a:stretch>
            <a:fillRect/>
          </a:stretch>
        </p:blipFill>
        <p:spPr>
          <a:xfrm>
            <a:off x="0" y="2110087"/>
            <a:ext cx="12192000" cy="3399826"/>
          </a:xfrm>
          <a:prstGeom prst="rect">
            <a:avLst/>
          </a:prstGeom>
        </p:spPr>
      </p:pic>
    </p:spTree>
    <p:extLst>
      <p:ext uri="{BB962C8B-B14F-4D97-AF65-F5344CB8AC3E}">
        <p14:creationId xmlns:p14="http://schemas.microsoft.com/office/powerpoint/2010/main" val="3618865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36A63-A77E-D01B-4090-24139E14B55A}"/>
              </a:ext>
            </a:extLst>
          </p:cNvPr>
          <p:cNvSpPr>
            <a:spLocks noGrp="1"/>
          </p:cNvSpPr>
          <p:nvPr>
            <p:ph type="title"/>
          </p:nvPr>
        </p:nvSpPr>
        <p:spPr/>
        <p:txBody>
          <a:bodyPr/>
          <a:lstStyle/>
          <a:p>
            <a:r>
              <a:rPr lang="en-US" dirty="0"/>
              <a:t>What this code accomplishes so far:</a:t>
            </a:r>
          </a:p>
        </p:txBody>
      </p:sp>
      <p:sp>
        <p:nvSpPr>
          <p:cNvPr id="3" name="Content Placeholder 2">
            <a:extLst>
              <a:ext uri="{FF2B5EF4-FFF2-40B4-BE49-F238E27FC236}">
                <a16:creationId xmlns:a16="http://schemas.microsoft.com/office/drawing/2014/main" id="{280C269A-3CFB-90AF-6049-8B4F43D9C96E}"/>
              </a:ext>
            </a:extLst>
          </p:cNvPr>
          <p:cNvSpPr>
            <a:spLocks noGrp="1"/>
          </p:cNvSpPr>
          <p:nvPr>
            <p:ph idx="1"/>
          </p:nvPr>
        </p:nvSpPr>
        <p:spPr/>
        <p:txBody>
          <a:bodyPr>
            <a:normAutofit fontScale="92500" lnSpcReduction="10000"/>
          </a:bodyPr>
          <a:lstStyle/>
          <a:p>
            <a:pPr>
              <a:spcBef>
                <a:spcPts val="1200"/>
              </a:spcBef>
            </a:pPr>
            <a:r>
              <a:rPr lang="en-US" b="1" dirty="0"/>
              <a:t>Calibration of colocation pod to reference</a:t>
            </a:r>
          </a:p>
          <a:p>
            <a:pPr lvl="1">
              <a:spcBef>
                <a:spcPts val="1200"/>
              </a:spcBef>
            </a:pPr>
            <a:r>
              <a:rPr lang="en-US" dirty="0"/>
              <a:t>Grid search (k-fold cross validation) to optimize hyperparameters of machine learning models</a:t>
            </a:r>
          </a:p>
          <a:p>
            <a:pPr lvl="1">
              <a:spcBef>
                <a:spcPts val="1200"/>
              </a:spcBef>
            </a:pPr>
            <a:r>
              <a:rPr lang="en-US" dirty="0"/>
              <a:t>Train/test split before hyperparameter tuning to reduce data “leaking”</a:t>
            </a:r>
          </a:p>
          <a:p>
            <a:pPr lvl="1">
              <a:spcBef>
                <a:spcPts val="1200"/>
              </a:spcBef>
            </a:pPr>
            <a:r>
              <a:rPr lang="en-US" dirty="0"/>
              <a:t>Scaling of data after train/test split to reduce data “leaking”</a:t>
            </a:r>
          </a:p>
          <a:p>
            <a:pPr lvl="1">
              <a:spcBef>
                <a:spcPts val="1200"/>
              </a:spcBef>
            </a:pPr>
            <a:r>
              <a:rPr lang="en-US" dirty="0"/>
              <a:t>Model options right now are:</a:t>
            </a:r>
          </a:p>
          <a:p>
            <a:pPr lvl="2">
              <a:spcBef>
                <a:spcPts val="1200"/>
              </a:spcBef>
            </a:pPr>
            <a:r>
              <a:rPr lang="en-US" dirty="0"/>
              <a:t>Linear regression (no CV for hyperparameters)</a:t>
            </a:r>
          </a:p>
          <a:p>
            <a:pPr lvl="2">
              <a:spcBef>
                <a:spcPts val="1200"/>
              </a:spcBef>
            </a:pPr>
            <a:r>
              <a:rPr lang="en-US" dirty="0"/>
              <a:t>Ridge and Lasso regression (linear regressions that reduce overfitting)</a:t>
            </a:r>
          </a:p>
          <a:p>
            <a:pPr lvl="2">
              <a:spcBef>
                <a:spcPts val="1200"/>
              </a:spcBef>
            </a:pPr>
            <a:r>
              <a:rPr lang="en-US" dirty="0"/>
              <a:t>Random Forest, </a:t>
            </a:r>
            <a:r>
              <a:rPr lang="en-US" dirty="0" err="1"/>
              <a:t>Gradboost</a:t>
            </a:r>
            <a:r>
              <a:rPr lang="en-US" dirty="0"/>
              <a:t>, </a:t>
            </a:r>
            <a:r>
              <a:rPr lang="en-US" dirty="0" err="1"/>
              <a:t>Adaboost</a:t>
            </a:r>
            <a:r>
              <a:rPr lang="en-US" dirty="0"/>
              <a:t>, SVR</a:t>
            </a:r>
          </a:p>
          <a:p>
            <a:pPr lvl="2">
              <a:spcBef>
                <a:spcPts val="1200"/>
              </a:spcBef>
            </a:pPr>
            <a:r>
              <a:rPr lang="en-US" dirty="0"/>
              <a:t>Relatively easy to add more!</a:t>
            </a:r>
          </a:p>
          <a:p>
            <a:pPr lvl="1">
              <a:spcBef>
                <a:spcPts val="1200"/>
              </a:spcBef>
            </a:pPr>
            <a:r>
              <a:rPr lang="en-US" dirty="0"/>
              <a:t>Peak weighting and data resampling to improve fits on peak values</a:t>
            </a:r>
          </a:p>
        </p:txBody>
      </p:sp>
      <p:sp>
        <p:nvSpPr>
          <p:cNvPr id="4" name="Rectangle 3">
            <a:extLst>
              <a:ext uri="{FF2B5EF4-FFF2-40B4-BE49-F238E27FC236}">
                <a16:creationId xmlns:a16="http://schemas.microsoft.com/office/drawing/2014/main" id="{9E44189F-8A4B-6A11-E749-CA8CB6991A07}"/>
              </a:ext>
            </a:extLst>
          </p:cNvPr>
          <p:cNvSpPr/>
          <p:nvPr/>
        </p:nvSpPr>
        <p:spPr>
          <a:xfrm>
            <a:off x="9245600" y="2794000"/>
            <a:ext cx="1849120" cy="2641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23E49A1-E953-B069-25FC-27C6DA28D78E}"/>
              </a:ext>
            </a:extLst>
          </p:cNvPr>
          <p:cNvSpPr/>
          <p:nvPr/>
        </p:nvSpPr>
        <p:spPr>
          <a:xfrm>
            <a:off x="10007600" y="2794000"/>
            <a:ext cx="248920" cy="26416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D21D5EFF-A8A1-2FB1-D075-E0BF30FC3456}"/>
              </a:ext>
            </a:extLst>
          </p:cNvPr>
          <p:cNvSpPr/>
          <p:nvPr/>
        </p:nvSpPr>
        <p:spPr>
          <a:xfrm>
            <a:off x="10840720" y="2794000"/>
            <a:ext cx="248920" cy="26416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26B08E44-AB35-E96B-3995-2B7768D25880}"/>
              </a:ext>
            </a:extLst>
          </p:cNvPr>
          <p:cNvSpPr txBox="1"/>
          <p:nvPr/>
        </p:nvSpPr>
        <p:spPr>
          <a:xfrm>
            <a:off x="10625871" y="2469277"/>
            <a:ext cx="538674" cy="369332"/>
          </a:xfrm>
          <a:prstGeom prst="rect">
            <a:avLst/>
          </a:prstGeom>
          <a:noFill/>
        </p:spPr>
        <p:txBody>
          <a:bodyPr wrap="none" rtlCol="0">
            <a:spAutoFit/>
          </a:bodyPr>
          <a:lstStyle/>
          <a:p>
            <a:r>
              <a:rPr lang="en-US" dirty="0">
                <a:solidFill>
                  <a:schemeClr val="accent2"/>
                </a:solidFill>
              </a:rPr>
              <a:t>test</a:t>
            </a:r>
          </a:p>
        </p:txBody>
      </p:sp>
      <p:sp>
        <p:nvSpPr>
          <p:cNvPr id="8" name="TextBox 7">
            <a:extLst>
              <a:ext uri="{FF2B5EF4-FFF2-40B4-BE49-F238E27FC236}">
                <a16:creationId xmlns:a16="http://schemas.microsoft.com/office/drawing/2014/main" id="{6CDFB78C-9434-C304-A6E6-9F32AE9D9AD7}"/>
              </a:ext>
            </a:extLst>
          </p:cNvPr>
          <p:cNvSpPr txBox="1"/>
          <p:nvPr/>
        </p:nvSpPr>
        <p:spPr>
          <a:xfrm>
            <a:off x="9245600" y="2469277"/>
            <a:ext cx="622350" cy="369332"/>
          </a:xfrm>
          <a:prstGeom prst="rect">
            <a:avLst/>
          </a:prstGeom>
          <a:noFill/>
        </p:spPr>
        <p:txBody>
          <a:bodyPr wrap="none" rtlCol="0">
            <a:spAutoFit/>
          </a:bodyPr>
          <a:lstStyle/>
          <a:p>
            <a:r>
              <a:rPr lang="en-US" dirty="0">
                <a:solidFill>
                  <a:schemeClr val="accent1"/>
                </a:solidFill>
              </a:rPr>
              <a:t>train</a:t>
            </a:r>
          </a:p>
        </p:txBody>
      </p:sp>
    </p:spTree>
    <p:extLst>
      <p:ext uri="{BB962C8B-B14F-4D97-AF65-F5344CB8AC3E}">
        <p14:creationId xmlns:p14="http://schemas.microsoft.com/office/powerpoint/2010/main" val="34243337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36A63-A77E-D01B-4090-24139E14B55A}"/>
              </a:ext>
            </a:extLst>
          </p:cNvPr>
          <p:cNvSpPr>
            <a:spLocks noGrp="1"/>
          </p:cNvSpPr>
          <p:nvPr>
            <p:ph type="title"/>
          </p:nvPr>
        </p:nvSpPr>
        <p:spPr/>
        <p:txBody>
          <a:bodyPr/>
          <a:lstStyle/>
          <a:p>
            <a:r>
              <a:rPr lang="en-US" dirty="0"/>
              <a:t>What this code accomplishes so far:</a:t>
            </a:r>
          </a:p>
        </p:txBody>
      </p:sp>
      <p:sp>
        <p:nvSpPr>
          <p:cNvPr id="3" name="Content Placeholder 2">
            <a:extLst>
              <a:ext uri="{FF2B5EF4-FFF2-40B4-BE49-F238E27FC236}">
                <a16:creationId xmlns:a16="http://schemas.microsoft.com/office/drawing/2014/main" id="{280C269A-3CFB-90AF-6049-8B4F43D9C96E}"/>
              </a:ext>
            </a:extLst>
          </p:cNvPr>
          <p:cNvSpPr>
            <a:spLocks noGrp="1"/>
          </p:cNvSpPr>
          <p:nvPr>
            <p:ph idx="1"/>
          </p:nvPr>
        </p:nvSpPr>
        <p:spPr/>
        <p:txBody>
          <a:bodyPr>
            <a:normAutofit fontScale="85000" lnSpcReduction="20000"/>
          </a:bodyPr>
          <a:lstStyle/>
          <a:p>
            <a:pPr>
              <a:spcBef>
                <a:spcPts val="1200"/>
              </a:spcBef>
            </a:pPr>
            <a:r>
              <a:rPr lang="en-US" b="1" dirty="0"/>
              <a:t>Field data harmonization &amp; calibration in the 1-hop approach</a:t>
            </a:r>
          </a:p>
          <a:p>
            <a:pPr lvl="1">
              <a:spcBef>
                <a:spcPts val="1200"/>
              </a:spcBef>
            </a:pPr>
            <a:r>
              <a:rPr lang="en-US" dirty="0"/>
              <a:t>Applies the harmonization linear regression to each sensor in a pod</a:t>
            </a:r>
          </a:p>
          <a:p>
            <a:pPr lvl="1">
              <a:spcBef>
                <a:spcPts val="1200"/>
              </a:spcBef>
            </a:pPr>
            <a:r>
              <a:rPr lang="en-US" dirty="0"/>
              <a:t>Then applies the colocation calibration model to the harmonized pod data</a:t>
            </a:r>
          </a:p>
          <a:p>
            <a:pPr>
              <a:spcBef>
                <a:spcPts val="1200"/>
              </a:spcBef>
            </a:pPr>
            <a:r>
              <a:rPr lang="en-US" b="1" dirty="0"/>
              <a:t>Some plotting</a:t>
            </a:r>
          </a:p>
          <a:p>
            <a:pPr lvl="1">
              <a:spcBef>
                <a:spcPts val="1200"/>
              </a:spcBef>
            </a:pPr>
            <a:r>
              <a:rPr lang="en-US" dirty="0"/>
              <a:t>RMSE, R2, MBE stats across different colocation calibration models</a:t>
            </a:r>
          </a:p>
          <a:p>
            <a:pPr lvl="1">
              <a:spcBef>
                <a:spcPts val="1200"/>
              </a:spcBef>
            </a:pPr>
            <a:r>
              <a:rPr lang="en-US" dirty="0"/>
              <a:t>Time series of colocation pod corrected timeseries vs. reference</a:t>
            </a:r>
          </a:p>
          <a:p>
            <a:pPr lvl="1">
              <a:spcBef>
                <a:spcPts val="1200"/>
              </a:spcBef>
            </a:pPr>
            <a:r>
              <a:rPr lang="en-US" dirty="0"/>
              <a:t>Colocation pod vs. reference scatter plot</a:t>
            </a:r>
          </a:p>
          <a:p>
            <a:pPr lvl="1">
              <a:spcBef>
                <a:spcPts val="1200"/>
              </a:spcBef>
            </a:pPr>
            <a:r>
              <a:rPr lang="en-US" dirty="0"/>
              <a:t>Colocation pod residuals vs. sensor inputs</a:t>
            </a:r>
          </a:p>
          <a:p>
            <a:pPr lvl="1">
              <a:spcBef>
                <a:spcPts val="1200"/>
              </a:spcBef>
            </a:pPr>
            <a:r>
              <a:rPr lang="en-US" dirty="0"/>
              <a:t>harmonization stats, scatter, and timeseries</a:t>
            </a:r>
          </a:p>
          <a:p>
            <a:pPr lvl="1">
              <a:spcBef>
                <a:spcPts val="1200"/>
              </a:spcBef>
            </a:pPr>
            <a:r>
              <a:rPr lang="en-US" dirty="0"/>
              <a:t>Box plot of pod field data concentrations</a:t>
            </a:r>
          </a:p>
          <a:p>
            <a:pPr lvl="1">
              <a:spcBef>
                <a:spcPts val="1200"/>
              </a:spcBef>
            </a:pPr>
            <a:r>
              <a:rPr lang="en-US" dirty="0"/>
              <a:t>Time series of corrected field data</a:t>
            </a:r>
          </a:p>
        </p:txBody>
      </p:sp>
    </p:spTree>
    <p:extLst>
      <p:ext uri="{BB962C8B-B14F-4D97-AF65-F5344CB8AC3E}">
        <p14:creationId xmlns:p14="http://schemas.microsoft.com/office/powerpoint/2010/main" val="5003381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2A951-8A74-4002-1A73-4C40B23BC875}"/>
              </a:ext>
            </a:extLst>
          </p:cNvPr>
          <p:cNvSpPr>
            <a:spLocks noGrp="1"/>
          </p:cNvSpPr>
          <p:nvPr>
            <p:ph type="title"/>
          </p:nvPr>
        </p:nvSpPr>
        <p:spPr/>
        <p:txBody>
          <a:bodyPr/>
          <a:lstStyle/>
          <a:p>
            <a:r>
              <a:rPr lang="en-US" dirty="0"/>
              <a:t>Python set up</a:t>
            </a:r>
          </a:p>
        </p:txBody>
      </p:sp>
      <p:sp>
        <p:nvSpPr>
          <p:cNvPr id="3" name="Text Placeholder 2">
            <a:extLst>
              <a:ext uri="{FF2B5EF4-FFF2-40B4-BE49-F238E27FC236}">
                <a16:creationId xmlns:a16="http://schemas.microsoft.com/office/drawing/2014/main" id="{C855591C-2D0B-422E-2187-12A15123443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5934780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02FAF-A53E-D13D-479F-8047D1138928}"/>
              </a:ext>
            </a:extLst>
          </p:cNvPr>
          <p:cNvSpPr>
            <a:spLocks noGrp="1"/>
          </p:cNvSpPr>
          <p:nvPr>
            <p:ph type="title"/>
          </p:nvPr>
        </p:nvSpPr>
        <p:spPr/>
        <p:txBody>
          <a:bodyPr/>
          <a:lstStyle/>
          <a:p>
            <a:r>
              <a:rPr lang="en-US" dirty="0"/>
              <a:t>Setting up python</a:t>
            </a:r>
          </a:p>
        </p:txBody>
      </p:sp>
      <p:sp>
        <p:nvSpPr>
          <p:cNvPr id="3" name="Content Placeholder 2">
            <a:extLst>
              <a:ext uri="{FF2B5EF4-FFF2-40B4-BE49-F238E27FC236}">
                <a16:creationId xmlns:a16="http://schemas.microsoft.com/office/drawing/2014/main" id="{D8725722-24A1-B93C-A4AE-679FD75BC045}"/>
              </a:ext>
            </a:extLst>
          </p:cNvPr>
          <p:cNvSpPr>
            <a:spLocks noGrp="1"/>
          </p:cNvSpPr>
          <p:nvPr>
            <p:ph idx="1"/>
          </p:nvPr>
        </p:nvSpPr>
        <p:spPr/>
        <p:txBody>
          <a:bodyPr>
            <a:normAutofit lnSpcReduction="10000"/>
          </a:bodyPr>
          <a:lstStyle/>
          <a:p>
            <a:r>
              <a:rPr lang="en-US" dirty="0"/>
              <a:t>I used Spyder (through anaconda) but am now trying PyCharm because it is easier for </a:t>
            </a:r>
            <a:r>
              <a:rPr lang="en-US" dirty="0" err="1"/>
              <a:t>Github</a:t>
            </a:r>
            <a:r>
              <a:rPr lang="en-US" dirty="0"/>
              <a:t> (although causing issues elsewhere)</a:t>
            </a:r>
          </a:p>
          <a:p>
            <a:r>
              <a:rPr lang="en-US" dirty="0"/>
              <a:t>For Spyder, </a:t>
            </a:r>
          </a:p>
          <a:p>
            <a:pPr lvl="1"/>
            <a:r>
              <a:rPr lang="en-US" dirty="0"/>
              <a:t>download anaconda </a:t>
            </a:r>
          </a:p>
          <a:p>
            <a:pPr lvl="1"/>
            <a:r>
              <a:rPr lang="en-US" dirty="0"/>
              <a:t>in anaconda, download </a:t>
            </a:r>
            <a:r>
              <a:rPr lang="en-US" dirty="0" err="1"/>
              <a:t>spyder</a:t>
            </a:r>
            <a:endParaRPr lang="en-US" dirty="0"/>
          </a:p>
          <a:p>
            <a:pPr lvl="1"/>
            <a:r>
              <a:rPr lang="en-US" dirty="0"/>
              <a:t>Open the anaconda terminal and type “</a:t>
            </a:r>
            <a:r>
              <a:rPr lang="en-US" dirty="0" err="1"/>
              <a:t>spyder</a:t>
            </a:r>
            <a:r>
              <a:rPr lang="en-US" dirty="0"/>
              <a:t>”</a:t>
            </a:r>
          </a:p>
          <a:p>
            <a:pPr lvl="1"/>
            <a:r>
              <a:rPr lang="en-US" dirty="0"/>
              <a:t>Once </a:t>
            </a:r>
            <a:r>
              <a:rPr lang="en-US" dirty="0" err="1"/>
              <a:t>spyder</a:t>
            </a:r>
            <a:r>
              <a:rPr lang="en-US" dirty="0"/>
              <a:t> is open, navigate to Projects </a:t>
            </a:r>
            <a:r>
              <a:rPr lang="en-US" dirty="0">
                <a:sym typeface="Wingdings" panose="05000000000000000000" pitchFamily="2" charset="2"/>
              </a:rPr>
              <a:t> New Project… and create a folder in a new directory where you will store all of the data folders and scripts. This will automatically create the .</a:t>
            </a:r>
            <a:r>
              <a:rPr lang="en-US" dirty="0" err="1">
                <a:sym typeface="Wingdings" panose="05000000000000000000" pitchFamily="2" charset="2"/>
              </a:rPr>
              <a:t>spyprojects</a:t>
            </a:r>
            <a:r>
              <a:rPr lang="en-US" dirty="0">
                <a:sym typeface="Wingdings" panose="05000000000000000000" pitchFamily="2" charset="2"/>
              </a:rPr>
              <a:t> folder inside of the folder you name</a:t>
            </a:r>
            <a:endParaRPr lang="en-US" dirty="0"/>
          </a:p>
          <a:p>
            <a:pPr lvl="1"/>
            <a:r>
              <a:rPr lang="en-US" dirty="0"/>
              <a:t>I set up </a:t>
            </a:r>
            <a:r>
              <a:rPr lang="en-US" dirty="0" err="1"/>
              <a:t>spyder</a:t>
            </a:r>
            <a:r>
              <a:rPr lang="en-US" dirty="0"/>
              <a:t> a long time ago so I don’t remember what other settings need to be changed… we will have to work together on this</a:t>
            </a:r>
          </a:p>
          <a:p>
            <a:pPr lvl="1"/>
            <a:endParaRPr lang="en-US" dirty="0"/>
          </a:p>
          <a:p>
            <a:pPr lvl="1"/>
            <a:endParaRPr lang="en-US" dirty="0"/>
          </a:p>
          <a:p>
            <a:pPr lvl="1"/>
            <a:endParaRPr lang="en-US" dirty="0"/>
          </a:p>
        </p:txBody>
      </p:sp>
      <p:pic>
        <p:nvPicPr>
          <p:cNvPr id="5" name="Picture 4">
            <a:extLst>
              <a:ext uri="{FF2B5EF4-FFF2-40B4-BE49-F238E27FC236}">
                <a16:creationId xmlns:a16="http://schemas.microsoft.com/office/drawing/2014/main" id="{2F27A0B7-8AFA-33C7-AB75-85B00471B6B5}"/>
              </a:ext>
            </a:extLst>
          </p:cNvPr>
          <p:cNvPicPr>
            <a:picLocks noChangeAspect="1"/>
          </p:cNvPicPr>
          <p:nvPr/>
        </p:nvPicPr>
        <p:blipFill>
          <a:blip r:embed="rId2"/>
          <a:stretch>
            <a:fillRect/>
          </a:stretch>
        </p:blipFill>
        <p:spPr>
          <a:xfrm>
            <a:off x="7820489" y="2545748"/>
            <a:ext cx="3947502" cy="1455546"/>
          </a:xfrm>
          <a:prstGeom prst="rect">
            <a:avLst/>
          </a:prstGeom>
        </p:spPr>
      </p:pic>
    </p:spTree>
    <p:extLst>
      <p:ext uri="{BB962C8B-B14F-4D97-AF65-F5344CB8AC3E}">
        <p14:creationId xmlns:p14="http://schemas.microsoft.com/office/powerpoint/2010/main" val="23054174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131A3-2931-24ED-8C25-0213950F3EE5}"/>
              </a:ext>
            </a:extLst>
          </p:cNvPr>
          <p:cNvSpPr>
            <a:spLocks noGrp="1"/>
          </p:cNvSpPr>
          <p:nvPr>
            <p:ph type="title"/>
          </p:nvPr>
        </p:nvSpPr>
        <p:spPr/>
        <p:txBody>
          <a:bodyPr/>
          <a:lstStyle/>
          <a:p>
            <a:r>
              <a:rPr lang="en-US" dirty="0" err="1"/>
              <a:t>Pycharm</a:t>
            </a:r>
            <a:r>
              <a:rPr lang="en-US" dirty="0"/>
              <a:t> set up </a:t>
            </a:r>
          </a:p>
        </p:txBody>
      </p:sp>
      <p:sp>
        <p:nvSpPr>
          <p:cNvPr id="3" name="Content Placeholder 2">
            <a:extLst>
              <a:ext uri="{FF2B5EF4-FFF2-40B4-BE49-F238E27FC236}">
                <a16:creationId xmlns:a16="http://schemas.microsoft.com/office/drawing/2014/main" id="{A27F5462-71B5-C5F6-862C-468D40B0A1AB}"/>
              </a:ext>
            </a:extLst>
          </p:cNvPr>
          <p:cNvSpPr>
            <a:spLocks noGrp="1"/>
          </p:cNvSpPr>
          <p:nvPr>
            <p:ph idx="1"/>
          </p:nvPr>
        </p:nvSpPr>
        <p:spPr/>
        <p:txBody>
          <a:bodyPr>
            <a:normAutofit/>
          </a:bodyPr>
          <a:lstStyle/>
          <a:p>
            <a:r>
              <a:rPr lang="en-US" sz="3200" dirty="0"/>
              <a:t>For </a:t>
            </a:r>
            <a:r>
              <a:rPr lang="en-US" sz="3200" dirty="0" err="1"/>
              <a:t>pycharm</a:t>
            </a:r>
            <a:r>
              <a:rPr lang="en-US" sz="3200" dirty="0"/>
              <a:t>,</a:t>
            </a:r>
          </a:p>
          <a:p>
            <a:pPr lvl="1"/>
            <a:r>
              <a:rPr lang="en-US" sz="2800" dirty="0"/>
              <a:t>Download anaconda</a:t>
            </a:r>
          </a:p>
          <a:p>
            <a:pPr lvl="1"/>
            <a:r>
              <a:rPr lang="en-US" sz="2800" dirty="0"/>
              <a:t>Download </a:t>
            </a:r>
            <a:r>
              <a:rPr lang="en-US" sz="2800" dirty="0" err="1"/>
              <a:t>pycharm</a:t>
            </a:r>
            <a:endParaRPr lang="en-US" sz="2800" dirty="0"/>
          </a:p>
          <a:p>
            <a:pPr lvl="2"/>
            <a:r>
              <a:rPr lang="en-US" sz="2400" dirty="0"/>
              <a:t>Will need to get student license but can start out with free trial</a:t>
            </a:r>
          </a:p>
          <a:p>
            <a:pPr lvl="1"/>
            <a:r>
              <a:rPr lang="en-US" sz="2800" dirty="0"/>
              <a:t>In </a:t>
            </a:r>
            <a:r>
              <a:rPr lang="en-US" sz="2800" dirty="0" err="1"/>
              <a:t>pycharm</a:t>
            </a:r>
            <a:r>
              <a:rPr lang="en-US" sz="2800" dirty="0"/>
              <a:t>, go to file </a:t>
            </a:r>
            <a:r>
              <a:rPr lang="en-US" sz="2800" dirty="0">
                <a:sym typeface="Wingdings" panose="05000000000000000000" pitchFamily="2" charset="2"/>
              </a:rPr>
              <a:t> new project</a:t>
            </a:r>
            <a:endParaRPr lang="en-US" sz="2800" dirty="0"/>
          </a:p>
          <a:p>
            <a:pPr lvl="1"/>
            <a:endParaRPr lang="en-US" sz="2800" dirty="0"/>
          </a:p>
        </p:txBody>
      </p:sp>
      <p:pic>
        <p:nvPicPr>
          <p:cNvPr id="5" name="Picture 4">
            <a:extLst>
              <a:ext uri="{FF2B5EF4-FFF2-40B4-BE49-F238E27FC236}">
                <a16:creationId xmlns:a16="http://schemas.microsoft.com/office/drawing/2014/main" id="{E1A2D1F9-A6DF-4FF7-1721-BCD0EC687D56}"/>
              </a:ext>
            </a:extLst>
          </p:cNvPr>
          <p:cNvPicPr>
            <a:picLocks noChangeAspect="1"/>
          </p:cNvPicPr>
          <p:nvPr/>
        </p:nvPicPr>
        <p:blipFill>
          <a:blip r:embed="rId2"/>
          <a:stretch>
            <a:fillRect/>
          </a:stretch>
        </p:blipFill>
        <p:spPr>
          <a:xfrm>
            <a:off x="5343933" y="2001489"/>
            <a:ext cx="5243014" cy="701101"/>
          </a:xfrm>
          <a:prstGeom prst="rect">
            <a:avLst/>
          </a:prstGeom>
        </p:spPr>
      </p:pic>
    </p:spTree>
    <p:extLst>
      <p:ext uri="{BB962C8B-B14F-4D97-AF65-F5344CB8AC3E}">
        <p14:creationId xmlns:p14="http://schemas.microsoft.com/office/powerpoint/2010/main" val="7608126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7B1B1-C4C2-8BF7-805F-C913B5C37863}"/>
              </a:ext>
            </a:extLst>
          </p:cNvPr>
          <p:cNvSpPr>
            <a:spLocks noGrp="1"/>
          </p:cNvSpPr>
          <p:nvPr>
            <p:ph type="title"/>
          </p:nvPr>
        </p:nvSpPr>
        <p:spPr/>
        <p:txBody>
          <a:bodyPr/>
          <a:lstStyle/>
          <a:p>
            <a:r>
              <a:rPr lang="en-US" dirty="0" err="1"/>
              <a:t>Pycharm</a:t>
            </a:r>
            <a:r>
              <a:rPr lang="en-US" dirty="0"/>
              <a:t> set up</a:t>
            </a:r>
          </a:p>
        </p:txBody>
      </p:sp>
      <p:sp>
        <p:nvSpPr>
          <p:cNvPr id="3" name="Content Placeholder 2">
            <a:extLst>
              <a:ext uri="{FF2B5EF4-FFF2-40B4-BE49-F238E27FC236}">
                <a16:creationId xmlns:a16="http://schemas.microsoft.com/office/drawing/2014/main" id="{91267D17-0799-C8E3-24E4-374F277A1E07}"/>
              </a:ext>
            </a:extLst>
          </p:cNvPr>
          <p:cNvSpPr>
            <a:spLocks noGrp="1"/>
          </p:cNvSpPr>
          <p:nvPr>
            <p:ph idx="1"/>
          </p:nvPr>
        </p:nvSpPr>
        <p:spPr>
          <a:xfrm>
            <a:off x="230811" y="1825625"/>
            <a:ext cx="4124959" cy="4351338"/>
          </a:xfrm>
        </p:spPr>
        <p:txBody>
          <a:bodyPr/>
          <a:lstStyle/>
          <a:p>
            <a:r>
              <a:rPr lang="en-US" dirty="0"/>
              <a:t>In the new project window, choose a name for the folder that will contain all your data and scripts</a:t>
            </a:r>
          </a:p>
          <a:p>
            <a:r>
              <a:rPr lang="en-US" dirty="0"/>
              <a:t>Path to </a:t>
            </a:r>
            <a:r>
              <a:rPr lang="en-US" dirty="0" err="1"/>
              <a:t>conda</a:t>
            </a:r>
            <a:r>
              <a:rPr lang="en-US" dirty="0"/>
              <a:t> should be set to wherever Anaconda is located</a:t>
            </a:r>
          </a:p>
        </p:txBody>
      </p:sp>
      <p:pic>
        <p:nvPicPr>
          <p:cNvPr id="5" name="Picture 4">
            <a:extLst>
              <a:ext uri="{FF2B5EF4-FFF2-40B4-BE49-F238E27FC236}">
                <a16:creationId xmlns:a16="http://schemas.microsoft.com/office/drawing/2014/main" id="{095428EB-A263-DBD4-34BA-BB828C0302E1}"/>
              </a:ext>
            </a:extLst>
          </p:cNvPr>
          <p:cNvPicPr>
            <a:picLocks noChangeAspect="1"/>
          </p:cNvPicPr>
          <p:nvPr/>
        </p:nvPicPr>
        <p:blipFill>
          <a:blip r:embed="rId2"/>
          <a:stretch>
            <a:fillRect/>
          </a:stretch>
        </p:blipFill>
        <p:spPr>
          <a:xfrm>
            <a:off x="4948209" y="232143"/>
            <a:ext cx="7012980" cy="5670817"/>
          </a:xfrm>
          <a:prstGeom prst="rect">
            <a:avLst/>
          </a:prstGeom>
        </p:spPr>
      </p:pic>
    </p:spTree>
    <p:extLst>
      <p:ext uri="{BB962C8B-B14F-4D97-AF65-F5344CB8AC3E}">
        <p14:creationId xmlns:p14="http://schemas.microsoft.com/office/powerpoint/2010/main" val="28746102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3A85F-F9E9-68C1-D8FC-8BD6F4F9985D}"/>
              </a:ext>
            </a:extLst>
          </p:cNvPr>
          <p:cNvSpPr>
            <a:spLocks noGrp="1"/>
          </p:cNvSpPr>
          <p:nvPr>
            <p:ph type="title"/>
          </p:nvPr>
        </p:nvSpPr>
        <p:spPr/>
        <p:txBody>
          <a:bodyPr/>
          <a:lstStyle/>
          <a:p>
            <a:r>
              <a:rPr lang="en-US" dirty="0" err="1"/>
              <a:t>Pycharm</a:t>
            </a:r>
            <a:r>
              <a:rPr lang="en-US" dirty="0"/>
              <a:t> set up</a:t>
            </a:r>
          </a:p>
        </p:txBody>
      </p:sp>
      <p:sp>
        <p:nvSpPr>
          <p:cNvPr id="3" name="Content Placeholder 2">
            <a:extLst>
              <a:ext uri="{FF2B5EF4-FFF2-40B4-BE49-F238E27FC236}">
                <a16:creationId xmlns:a16="http://schemas.microsoft.com/office/drawing/2014/main" id="{27CE866C-5A36-939C-0659-E3378BC9E9D9}"/>
              </a:ext>
            </a:extLst>
          </p:cNvPr>
          <p:cNvSpPr>
            <a:spLocks noGrp="1"/>
          </p:cNvSpPr>
          <p:nvPr>
            <p:ph idx="1"/>
          </p:nvPr>
        </p:nvSpPr>
        <p:spPr>
          <a:xfrm>
            <a:off x="838200" y="1825625"/>
            <a:ext cx="5125720" cy="4351338"/>
          </a:xfrm>
        </p:spPr>
        <p:txBody>
          <a:bodyPr/>
          <a:lstStyle/>
          <a:p>
            <a:r>
              <a:rPr lang="en-US" dirty="0"/>
              <a:t>Navigate to settings </a:t>
            </a:r>
            <a:r>
              <a:rPr lang="en-US" dirty="0">
                <a:sym typeface="Wingdings" panose="05000000000000000000" pitchFamily="2" charset="2"/>
              </a:rPr>
              <a:t> console</a:t>
            </a:r>
            <a:r>
              <a:rPr lang="en-US" dirty="0"/>
              <a:t> and make sure you have the settings checked like in the screenshot</a:t>
            </a:r>
          </a:p>
        </p:txBody>
      </p:sp>
      <p:pic>
        <p:nvPicPr>
          <p:cNvPr id="5" name="Picture 4">
            <a:extLst>
              <a:ext uri="{FF2B5EF4-FFF2-40B4-BE49-F238E27FC236}">
                <a16:creationId xmlns:a16="http://schemas.microsoft.com/office/drawing/2014/main" id="{4A66C281-9212-7577-F71B-5D24C2743EFE}"/>
              </a:ext>
            </a:extLst>
          </p:cNvPr>
          <p:cNvPicPr>
            <a:picLocks noChangeAspect="1"/>
          </p:cNvPicPr>
          <p:nvPr/>
        </p:nvPicPr>
        <p:blipFill>
          <a:blip r:embed="rId2"/>
          <a:stretch>
            <a:fillRect/>
          </a:stretch>
        </p:blipFill>
        <p:spPr>
          <a:xfrm>
            <a:off x="1673730" y="4001294"/>
            <a:ext cx="3002540" cy="3124471"/>
          </a:xfrm>
          <a:prstGeom prst="rect">
            <a:avLst/>
          </a:prstGeom>
        </p:spPr>
      </p:pic>
      <p:pic>
        <p:nvPicPr>
          <p:cNvPr id="3074" name="Picture 2">
            <a:extLst>
              <a:ext uri="{FF2B5EF4-FFF2-40B4-BE49-F238E27FC236}">
                <a16:creationId xmlns:a16="http://schemas.microsoft.com/office/drawing/2014/main" id="{FDB86DF2-F2FA-4484-B4C9-05C5EC96AA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1680" y="479902"/>
            <a:ext cx="5943600" cy="5705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80345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E274C-7FC8-F10C-89C8-A3D5DC18A261}"/>
              </a:ext>
            </a:extLst>
          </p:cNvPr>
          <p:cNvSpPr>
            <a:spLocks noGrp="1"/>
          </p:cNvSpPr>
          <p:nvPr>
            <p:ph type="title"/>
          </p:nvPr>
        </p:nvSpPr>
        <p:spPr/>
        <p:txBody>
          <a:bodyPr/>
          <a:lstStyle/>
          <a:p>
            <a:r>
              <a:rPr lang="en-US" dirty="0" err="1"/>
              <a:t>Pycharm</a:t>
            </a:r>
            <a:r>
              <a:rPr lang="en-US" dirty="0"/>
              <a:t> set up</a:t>
            </a:r>
          </a:p>
        </p:txBody>
      </p:sp>
      <p:sp>
        <p:nvSpPr>
          <p:cNvPr id="3" name="Content Placeholder 2">
            <a:extLst>
              <a:ext uri="{FF2B5EF4-FFF2-40B4-BE49-F238E27FC236}">
                <a16:creationId xmlns:a16="http://schemas.microsoft.com/office/drawing/2014/main" id="{82A4A521-2FA7-EA6D-0843-DBCD734352CA}"/>
              </a:ext>
            </a:extLst>
          </p:cNvPr>
          <p:cNvSpPr>
            <a:spLocks noGrp="1"/>
          </p:cNvSpPr>
          <p:nvPr>
            <p:ph idx="1"/>
          </p:nvPr>
        </p:nvSpPr>
        <p:spPr>
          <a:xfrm>
            <a:off x="838200" y="1825625"/>
            <a:ext cx="3987800" cy="4351338"/>
          </a:xfrm>
        </p:spPr>
        <p:txBody>
          <a:bodyPr/>
          <a:lstStyle/>
          <a:p>
            <a:r>
              <a:rPr lang="en-US" dirty="0"/>
              <a:t>Navigate to edit configuration (see screenshot)</a:t>
            </a:r>
          </a:p>
          <a:p>
            <a:r>
              <a:rPr lang="en-US" dirty="0"/>
              <a:t>Then open the modify options menu and make sure it matches the screenshot</a:t>
            </a:r>
          </a:p>
          <a:p>
            <a:endParaRPr lang="en-US" dirty="0"/>
          </a:p>
        </p:txBody>
      </p:sp>
      <p:pic>
        <p:nvPicPr>
          <p:cNvPr id="2050" name="Picture 2">
            <a:extLst>
              <a:ext uri="{FF2B5EF4-FFF2-40B4-BE49-F238E27FC236}">
                <a16:creationId xmlns:a16="http://schemas.microsoft.com/office/drawing/2014/main" id="{DE42F2A8-5025-6804-E08F-97D7FE954D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53105" y="437197"/>
            <a:ext cx="6799320" cy="488156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7CFEE6D2-2856-3977-159A-444A90D2557D}"/>
              </a:ext>
            </a:extLst>
          </p:cNvPr>
          <p:cNvPicPr>
            <a:picLocks noChangeAspect="1"/>
          </p:cNvPicPr>
          <p:nvPr/>
        </p:nvPicPr>
        <p:blipFill>
          <a:blip r:embed="rId3"/>
          <a:stretch>
            <a:fillRect/>
          </a:stretch>
        </p:blipFill>
        <p:spPr>
          <a:xfrm>
            <a:off x="533150" y="4693920"/>
            <a:ext cx="4411363" cy="1727200"/>
          </a:xfrm>
          <a:prstGeom prst="rect">
            <a:avLst/>
          </a:prstGeom>
        </p:spPr>
      </p:pic>
    </p:spTree>
    <p:extLst>
      <p:ext uri="{BB962C8B-B14F-4D97-AF65-F5344CB8AC3E}">
        <p14:creationId xmlns:p14="http://schemas.microsoft.com/office/powerpoint/2010/main" val="22103927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4CD1D-A346-5653-6507-139B40C46F39}"/>
              </a:ext>
            </a:extLst>
          </p:cNvPr>
          <p:cNvSpPr>
            <a:spLocks noGrp="1"/>
          </p:cNvSpPr>
          <p:nvPr>
            <p:ph type="title"/>
          </p:nvPr>
        </p:nvSpPr>
        <p:spPr/>
        <p:txBody>
          <a:bodyPr/>
          <a:lstStyle/>
          <a:p>
            <a:r>
              <a:rPr lang="en-US" dirty="0" err="1"/>
              <a:t>Pycharm</a:t>
            </a:r>
            <a:r>
              <a:rPr lang="en-US" dirty="0"/>
              <a:t> note</a:t>
            </a:r>
          </a:p>
        </p:txBody>
      </p:sp>
      <p:sp>
        <p:nvSpPr>
          <p:cNvPr id="3" name="Content Placeholder 2">
            <a:extLst>
              <a:ext uri="{FF2B5EF4-FFF2-40B4-BE49-F238E27FC236}">
                <a16:creationId xmlns:a16="http://schemas.microsoft.com/office/drawing/2014/main" id="{E1D2570C-77CA-1E68-40DB-4FF474BD46FB}"/>
              </a:ext>
            </a:extLst>
          </p:cNvPr>
          <p:cNvSpPr>
            <a:spLocks noGrp="1"/>
          </p:cNvSpPr>
          <p:nvPr>
            <p:ph idx="1"/>
          </p:nvPr>
        </p:nvSpPr>
        <p:spPr/>
        <p:txBody>
          <a:bodyPr/>
          <a:lstStyle/>
          <a:p>
            <a:pPr>
              <a:spcAft>
                <a:spcPts val="1200"/>
              </a:spcAft>
            </a:pPr>
            <a:r>
              <a:rPr lang="en-US" dirty="0"/>
              <a:t>If you make changes to .</a:t>
            </a:r>
            <a:r>
              <a:rPr lang="en-US" dirty="0" err="1"/>
              <a:t>py</a:t>
            </a:r>
            <a:r>
              <a:rPr lang="en-US" dirty="0"/>
              <a:t> file in </a:t>
            </a:r>
            <a:r>
              <a:rPr lang="en-US" dirty="0" err="1"/>
              <a:t>Python_Functions</a:t>
            </a:r>
            <a:r>
              <a:rPr lang="en-US" dirty="0"/>
              <a:t> (</a:t>
            </a:r>
            <a:r>
              <a:rPr lang="en-US" dirty="0" err="1"/>
              <a:t>preprocessing_func</a:t>
            </a:r>
            <a:r>
              <a:rPr lang="en-US" dirty="0"/>
              <a:t>, </a:t>
            </a:r>
            <a:r>
              <a:rPr lang="en-US" dirty="0" err="1"/>
              <a:t>plotting_func</a:t>
            </a:r>
            <a:r>
              <a:rPr lang="en-US" dirty="0"/>
              <a:t>, etc.), you will need to close out of the console at the bottom of the </a:t>
            </a:r>
            <a:r>
              <a:rPr lang="en-US" dirty="0" err="1"/>
              <a:t>pycharm</a:t>
            </a:r>
            <a:r>
              <a:rPr lang="en-US" dirty="0"/>
              <a:t> window before you rerun the MPC codes (_colocation or _</a:t>
            </a:r>
            <a:r>
              <a:rPr lang="en-US" dirty="0" err="1"/>
              <a:t>harmonization_field</a:t>
            </a:r>
            <a:r>
              <a:rPr lang="en-US" dirty="0"/>
              <a:t>)</a:t>
            </a:r>
          </a:p>
          <a:p>
            <a:pPr lvl="1">
              <a:spcAft>
                <a:spcPts val="1200"/>
              </a:spcAft>
            </a:pPr>
            <a:r>
              <a:rPr lang="en-US" dirty="0"/>
              <a:t>Otherwise, the changes to the </a:t>
            </a:r>
            <a:r>
              <a:rPr lang="en-US" dirty="0" err="1"/>
              <a:t>Python_Functions</a:t>
            </a:r>
            <a:r>
              <a:rPr lang="en-US" dirty="0"/>
              <a:t> file will not be imported </a:t>
            </a:r>
          </a:p>
        </p:txBody>
      </p:sp>
      <p:pic>
        <p:nvPicPr>
          <p:cNvPr id="5" name="Picture 4">
            <a:extLst>
              <a:ext uri="{FF2B5EF4-FFF2-40B4-BE49-F238E27FC236}">
                <a16:creationId xmlns:a16="http://schemas.microsoft.com/office/drawing/2014/main" id="{BE63C505-56D3-ED5A-F1A4-645FEF1C12B9}"/>
              </a:ext>
            </a:extLst>
          </p:cNvPr>
          <p:cNvPicPr>
            <a:picLocks noChangeAspect="1"/>
          </p:cNvPicPr>
          <p:nvPr/>
        </p:nvPicPr>
        <p:blipFill rotWithShape="1">
          <a:blip r:embed="rId2"/>
          <a:srcRect r="51548"/>
          <a:stretch/>
        </p:blipFill>
        <p:spPr>
          <a:xfrm>
            <a:off x="242071" y="4082739"/>
            <a:ext cx="5672698" cy="2229161"/>
          </a:xfrm>
          <a:prstGeom prst="rect">
            <a:avLst/>
          </a:prstGeom>
        </p:spPr>
      </p:pic>
      <p:sp>
        <p:nvSpPr>
          <p:cNvPr id="6" name="Oval 5">
            <a:extLst>
              <a:ext uri="{FF2B5EF4-FFF2-40B4-BE49-F238E27FC236}">
                <a16:creationId xmlns:a16="http://schemas.microsoft.com/office/drawing/2014/main" id="{7A85893D-4BBE-E55D-F75B-4F4E4D46ED11}"/>
              </a:ext>
            </a:extLst>
          </p:cNvPr>
          <p:cNvSpPr/>
          <p:nvPr/>
        </p:nvSpPr>
        <p:spPr>
          <a:xfrm>
            <a:off x="123825" y="4082739"/>
            <a:ext cx="1971675" cy="497499"/>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5660FC0A-384B-D95C-13EA-D04048558F79}"/>
              </a:ext>
            </a:extLst>
          </p:cNvPr>
          <p:cNvCxnSpPr/>
          <p:nvPr/>
        </p:nvCxnSpPr>
        <p:spPr>
          <a:xfrm flipH="1">
            <a:off x="1804086" y="3947802"/>
            <a:ext cx="1029730" cy="40177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0FF401E1-233F-7BD8-0C2A-BD9BBC1B555E}"/>
              </a:ext>
            </a:extLst>
          </p:cNvPr>
          <p:cNvPicPr>
            <a:picLocks noChangeAspect="1"/>
          </p:cNvPicPr>
          <p:nvPr/>
        </p:nvPicPr>
        <p:blipFill>
          <a:blip r:embed="rId3"/>
          <a:stretch>
            <a:fillRect/>
          </a:stretch>
        </p:blipFill>
        <p:spPr>
          <a:xfrm>
            <a:off x="7734537" y="5558536"/>
            <a:ext cx="2143424" cy="685896"/>
          </a:xfrm>
          <a:prstGeom prst="rect">
            <a:avLst/>
          </a:prstGeom>
        </p:spPr>
      </p:pic>
      <p:sp>
        <p:nvSpPr>
          <p:cNvPr id="11" name="TextBox 10">
            <a:extLst>
              <a:ext uri="{FF2B5EF4-FFF2-40B4-BE49-F238E27FC236}">
                <a16:creationId xmlns:a16="http://schemas.microsoft.com/office/drawing/2014/main" id="{F21DA756-1D37-5725-5266-54E6996E14CA}"/>
              </a:ext>
            </a:extLst>
          </p:cNvPr>
          <p:cNvSpPr txBox="1"/>
          <p:nvPr/>
        </p:nvSpPr>
        <p:spPr>
          <a:xfrm>
            <a:off x="7274247" y="4618730"/>
            <a:ext cx="3286660" cy="923330"/>
          </a:xfrm>
          <a:prstGeom prst="rect">
            <a:avLst/>
          </a:prstGeom>
          <a:noFill/>
        </p:spPr>
        <p:txBody>
          <a:bodyPr wrap="square" rtlCol="0">
            <a:spAutoFit/>
          </a:bodyPr>
          <a:lstStyle/>
          <a:p>
            <a:r>
              <a:rPr lang="en-US" dirty="0"/>
              <a:t>Then, open a new python console using this bottom in the bottom left</a:t>
            </a:r>
          </a:p>
        </p:txBody>
      </p:sp>
      <p:cxnSp>
        <p:nvCxnSpPr>
          <p:cNvPr id="13" name="Straight Arrow Connector 12">
            <a:extLst>
              <a:ext uri="{FF2B5EF4-FFF2-40B4-BE49-F238E27FC236}">
                <a16:creationId xmlns:a16="http://schemas.microsoft.com/office/drawing/2014/main" id="{54B75BB7-0359-B94B-F309-D359E1DFBF02}"/>
              </a:ext>
            </a:extLst>
          </p:cNvPr>
          <p:cNvCxnSpPr/>
          <p:nvPr/>
        </p:nvCxnSpPr>
        <p:spPr>
          <a:xfrm flipV="1">
            <a:off x="7199870" y="6079524"/>
            <a:ext cx="634314" cy="41335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20072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72640-2B7F-61E0-06F5-8C2F88A83DAA}"/>
              </a:ext>
            </a:extLst>
          </p:cNvPr>
          <p:cNvSpPr>
            <a:spLocks noGrp="1"/>
          </p:cNvSpPr>
          <p:nvPr>
            <p:ph type="title"/>
          </p:nvPr>
        </p:nvSpPr>
        <p:spPr/>
        <p:txBody>
          <a:bodyPr/>
          <a:lstStyle/>
          <a:p>
            <a:r>
              <a:rPr lang="en-US" dirty="0"/>
              <a:t>Cloning the python scripts through </a:t>
            </a:r>
            <a:r>
              <a:rPr lang="en-US" dirty="0" err="1"/>
              <a:t>github</a:t>
            </a:r>
            <a:endParaRPr lang="en-US" dirty="0"/>
          </a:p>
        </p:txBody>
      </p:sp>
      <p:sp>
        <p:nvSpPr>
          <p:cNvPr id="3" name="Content Placeholder 2">
            <a:extLst>
              <a:ext uri="{FF2B5EF4-FFF2-40B4-BE49-F238E27FC236}">
                <a16:creationId xmlns:a16="http://schemas.microsoft.com/office/drawing/2014/main" id="{912C9560-F7C9-34D4-D4FA-3D0F63D5109E}"/>
              </a:ext>
            </a:extLst>
          </p:cNvPr>
          <p:cNvSpPr>
            <a:spLocks noGrp="1"/>
          </p:cNvSpPr>
          <p:nvPr>
            <p:ph idx="1"/>
          </p:nvPr>
        </p:nvSpPr>
        <p:spPr/>
        <p:txBody>
          <a:bodyPr>
            <a:normAutofit fontScale="92500"/>
          </a:bodyPr>
          <a:lstStyle/>
          <a:p>
            <a:pPr rtl="0">
              <a:lnSpc>
                <a:spcPct val="150000"/>
              </a:lnSpc>
              <a:spcBef>
                <a:spcPts val="0"/>
              </a:spcBef>
              <a:spcAft>
                <a:spcPts val="0"/>
              </a:spcAft>
            </a:pPr>
            <a:r>
              <a:rPr lang="en-US" sz="2800" b="0" i="0" u="none" strike="noStrike" dirty="0">
                <a:solidFill>
                  <a:srgbClr val="000000"/>
                </a:solidFill>
                <a:effectLst/>
                <a:latin typeface="Arial" panose="020B0604020202020204" pitchFamily="34" charset="0"/>
              </a:rPr>
              <a:t>Download git </a:t>
            </a:r>
            <a:r>
              <a:rPr lang="en-US" sz="2800" b="0" i="0" u="sng" strike="noStrike" dirty="0">
                <a:solidFill>
                  <a:srgbClr val="1155CC"/>
                </a:solidFill>
                <a:effectLst/>
                <a:latin typeface="Arial" panose="020B0604020202020204" pitchFamily="34" charset="0"/>
                <a:hlinkClick r:id="rId2"/>
              </a:rPr>
              <a:t>https://www.git-scm.com/download/win</a:t>
            </a:r>
            <a:r>
              <a:rPr lang="en-US" sz="2800" b="0" i="0" u="none" strike="noStrike" dirty="0">
                <a:solidFill>
                  <a:srgbClr val="000000"/>
                </a:solidFill>
                <a:effectLst/>
                <a:latin typeface="Arial" panose="020B0604020202020204" pitchFamily="34" charset="0"/>
              </a:rPr>
              <a:t> </a:t>
            </a:r>
            <a:endParaRPr lang="en-US" b="0" dirty="0">
              <a:effectLst/>
            </a:endParaRPr>
          </a:p>
          <a:p>
            <a:pPr rtl="0">
              <a:lnSpc>
                <a:spcPct val="150000"/>
              </a:lnSpc>
              <a:spcBef>
                <a:spcPts val="0"/>
              </a:spcBef>
              <a:spcAft>
                <a:spcPts val="0"/>
              </a:spcAft>
            </a:pPr>
            <a:r>
              <a:rPr lang="en-US" sz="2800" b="0" i="0" u="none" strike="noStrike" dirty="0">
                <a:solidFill>
                  <a:srgbClr val="000000"/>
                </a:solidFill>
                <a:effectLst/>
                <a:latin typeface="Arial" panose="020B0604020202020204" pitchFamily="34" charset="0"/>
              </a:rPr>
              <a:t>In </a:t>
            </a:r>
            <a:r>
              <a:rPr lang="en-US" sz="2800" b="0" i="0" u="none" strike="noStrike" dirty="0" err="1">
                <a:solidFill>
                  <a:srgbClr val="000000"/>
                </a:solidFill>
                <a:effectLst/>
                <a:latin typeface="Arial" panose="020B0604020202020204" pitchFamily="34" charset="0"/>
              </a:rPr>
              <a:t>powershell</a:t>
            </a:r>
            <a:r>
              <a:rPr lang="en-US" sz="2800" b="0" i="0" u="none" strike="noStrike" dirty="0">
                <a:solidFill>
                  <a:srgbClr val="000000"/>
                </a:solidFill>
                <a:effectLst/>
                <a:latin typeface="Arial" panose="020B0604020202020204" pitchFamily="34" charset="0"/>
              </a:rPr>
              <a:t>/command prompt, navigate (using cd) to folder you created in </a:t>
            </a:r>
            <a:r>
              <a:rPr lang="en-US" sz="2800" b="0" i="0" u="none" strike="noStrike" dirty="0" err="1">
                <a:solidFill>
                  <a:srgbClr val="000000"/>
                </a:solidFill>
                <a:effectLst/>
                <a:latin typeface="Arial" panose="020B0604020202020204" pitchFamily="34" charset="0"/>
              </a:rPr>
              <a:t>pycharm</a:t>
            </a:r>
            <a:r>
              <a:rPr lang="en-US" dirty="0">
                <a:solidFill>
                  <a:srgbClr val="000000"/>
                </a:solidFill>
                <a:latin typeface="Arial" panose="020B0604020202020204" pitchFamily="34" charset="0"/>
              </a:rPr>
              <a:t>/</a:t>
            </a:r>
            <a:r>
              <a:rPr lang="en-US" dirty="0" err="1">
                <a:solidFill>
                  <a:srgbClr val="000000"/>
                </a:solidFill>
                <a:latin typeface="Arial" panose="020B0604020202020204" pitchFamily="34" charset="0"/>
              </a:rPr>
              <a:t>spyder</a:t>
            </a:r>
            <a:r>
              <a:rPr lang="en-US" dirty="0">
                <a:solidFill>
                  <a:srgbClr val="000000"/>
                </a:solidFill>
                <a:latin typeface="Arial" panose="020B0604020202020204" pitchFamily="34" charset="0"/>
              </a:rPr>
              <a:t> that has the projects files</a:t>
            </a:r>
            <a:endParaRPr lang="en-US" b="0" dirty="0">
              <a:effectLst/>
            </a:endParaRPr>
          </a:p>
          <a:p>
            <a:pPr lvl="1">
              <a:lnSpc>
                <a:spcPct val="150000"/>
              </a:lnSpc>
              <a:spcBef>
                <a:spcPts val="0"/>
              </a:spcBef>
            </a:pPr>
            <a:r>
              <a:rPr lang="en-US" b="0" i="0" u="none" strike="noStrike" dirty="0">
                <a:solidFill>
                  <a:srgbClr val="000000"/>
                </a:solidFill>
                <a:effectLst/>
                <a:latin typeface="Arial" panose="020B0604020202020204" pitchFamily="34" charset="0"/>
              </a:rPr>
              <a:t>Example navigation: PS C:\Users\cfris\Documents&gt; cd </a:t>
            </a:r>
            <a:r>
              <a:rPr lang="en-US" b="0" i="0" u="none" strike="noStrike" dirty="0" err="1">
                <a:solidFill>
                  <a:srgbClr val="000000"/>
                </a:solidFill>
                <a:effectLst/>
                <a:latin typeface="Arial" panose="020B0604020202020204" pitchFamily="34" charset="0"/>
              </a:rPr>
              <a:t>Newfolder</a:t>
            </a:r>
            <a:endParaRPr lang="en-US" i="0" u="none" strike="noStrike" dirty="0">
              <a:solidFill>
                <a:srgbClr val="000000"/>
              </a:solidFill>
              <a:latin typeface="Arial" panose="020B0604020202020204" pitchFamily="34" charset="0"/>
            </a:endParaRPr>
          </a:p>
          <a:p>
            <a:pPr>
              <a:lnSpc>
                <a:spcPct val="150000"/>
              </a:lnSpc>
              <a:spcBef>
                <a:spcPts val="0"/>
              </a:spcBef>
            </a:pPr>
            <a:r>
              <a:rPr lang="en-US" sz="3200" b="0" i="0" u="none" strike="noStrike" dirty="0">
                <a:solidFill>
                  <a:srgbClr val="000000"/>
                </a:solidFill>
                <a:effectLst/>
                <a:latin typeface="Arial" panose="020B0604020202020204" pitchFamily="34" charset="0"/>
              </a:rPr>
              <a:t>Clone git by typing “git clone” and then the </a:t>
            </a:r>
            <a:r>
              <a:rPr lang="en-US" sz="3200" b="0" i="0" u="none" strike="noStrike" dirty="0" err="1">
                <a:solidFill>
                  <a:srgbClr val="000000"/>
                </a:solidFill>
                <a:effectLst/>
                <a:latin typeface="Arial" panose="020B0604020202020204" pitchFamily="34" charset="0"/>
              </a:rPr>
              <a:t>url</a:t>
            </a:r>
            <a:r>
              <a:rPr lang="en-US" sz="3200" b="0" i="0" u="none" strike="noStrike" dirty="0">
                <a:solidFill>
                  <a:srgbClr val="000000"/>
                </a:solidFill>
                <a:effectLst/>
                <a:latin typeface="Arial" panose="020B0604020202020204" pitchFamily="34" charset="0"/>
              </a:rPr>
              <a:t> for the files</a:t>
            </a:r>
            <a:endParaRPr lang="en-US" b="0" dirty="0">
              <a:effectLst/>
            </a:endParaRPr>
          </a:p>
          <a:p>
            <a:pPr lvl="1">
              <a:lnSpc>
                <a:spcPct val="150000"/>
              </a:lnSpc>
              <a:spcBef>
                <a:spcPts val="0"/>
              </a:spcBef>
            </a:pPr>
            <a:r>
              <a:rPr lang="en-US" b="0" i="0" u="none" strike="noStrike" dirty="0">
                <a:solidFill>
                  <a:srgbClr val="000000"/>
                </a:solidFill>
                <a:effectLst/>
                <a:latin typeface="Arial" panose="020B0604020202020204" pitchFamily="34" charset="0"/>
              </a:rPr>
              <a:t>Example: PS C:\Users\cfris\Documents\Newfolder&gt; git clone https://github.com/cafr1977/MPC_python.git</a:t>
            </a:r>
            <a:endParaRPr lang="en-US" b="0" dirty="0">
              <a:effectLst/>
            </a:endParaRPr>
          </a:p>
          <a:p>
            <a:pPr>
              <a:lnSpc>
                <a:spcPct val="150000"/>
              </a:lnSpc>
            </a:pPr>
            <a:endParaRPr lang="en-US" dirty="0"/>
          </a:p>
        </p:txBody>
      </p:sp>
    </p:spTree>
    <p:extLst>
      <p:ext uri="{BB962C8B-B14F-4D97-AF65-F5344CB8AC3E}">
        <p14:creationId xmlns:p14="http://schemas.microsoft.com/office/powerpoint/2010/main" val="36817297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B6995-3FD7-9A43-C68D-CF2CAB9642F1}"/>
              </a:ext>
            </a:extLst>
          </p:cNvPr>
          <p:cNvSpPr>
            <a:spLocks noGrp="1"/>
          </p:cNvSpPr>
          <p:nvPr>
            <p:ph type="title"/>
          </p:nvPr>
        </p:nvSpPr>
        <p:spPr/>
        <p:txBody>
          <a:bodyPr/>
          <a:lstStyle/>
          <a:p>
            <a:r>
              <a:rPr lang="en-US" dirty="0"/>
              <a:t>GITHUB LINK</a:t>
            </a:r>
          </a:p>
        </p:txBody>
      </p:sp>
      <p:sp>
        <p:nvSpPr>
          <p:cNvPr id="3" name="Content Placeholder 2">
            <a:extLst>
              <a:ext uri="{FF2B5EF4-FFF2-40B4-BE49-F238E27FC236}">
                <a16:creationId xmlns:a16="http://schemas.microsoft.com/office/drawing/2014/main" id="{2A4C9493-6284-8030-639C-02D3CF28D532}"/>
              </a:ext>
            </a:extLst>
          </p:cNvPr>
          <p:cNvSpPr>
            <a:spLocks noGrp="1"/>
          </p:cNvSpPr>
          <p:nvPr>
            <p:ph idx="1"/>
          </p:nvPr>
        </p:nvSpPr>
        <p:spPr/>
        <p:txBody>
          <a:bodyPr/>
          <a:lstStyle/>
          <a:p>
            <a:pPr marL="0" indent="0">
              <a:buNone/>
            </a:pPr>
            <a:r>
              <a:rPr lang="en-US" b="0" i="0" u="none" strike="noStrike" dirty="0">
                <a:solidFill>
                  <a:srgbClr val="000000"/>
                </a:solidFill>
                <a:effectLst/>
                <a:latin typeface="Arial" panose="020B0604020202020204" pitchFamily="34" charset="0"/>
              </a:rPr>
              <a:t>https://github.com/cafr1977/MPC_python.git</a:t>
            </a:r>
            <a:endParaRPr lang="en-US" b="0" dirty="0">
              <a:effectLst/>
            </a:endParaRPr>
          </a:p>
          <a:p>
            <a:pPr marL="0" indent="0">
              <a:buNone/>
            </a:pPr>
            <a:endParaRPr lang="en-US" dirty="0"/>
          </a:p>
        </p:txBody>
      </p:sp>
    </p:spTree>
    <p:extLst>
      <p:ext uri="{BB962C8B-B14F-4D97-AF65-F5344CB8AC3E}">
        <p14:creationId xmlns:p14="http://schemas.microsoft.com/office/powerpoint/2010/main" val="2888913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CA4F0-9CBA-909C-C5B8-29923FF85838}"/>
              </a:ext>
            </a:extLst>
          </p:cNvPr>
          <p:cNvSpPr>
            <a:spLocks noGrp="1"/>
          </p:cNvSpPr>
          <p:nvPr>
            <p:ph type="title"/>
          </p:nvPr>
        </p:nvSpPr>
        <p:spPr/>
        <p:txBody>
          <a:bodyPr/>
          <a:lstStyle/>
          <a:p>
            <a:r>
              <a:rPr lang="en-US" dirty="0"/>
              <a:t>Cloning python scripts through </a:t>
            </a:r>
            <a:r>
              <a:rPr lang="en-US" dirty="0" err="1"/>
              <a:t>github</a:t>
            </a:r>
            <a:endParaRPr lang="en-US" dirty="0"/>
          </a:p>
        </p:txBody>
      </p:sp>
      <p:sp>
        <p:nvSpPr>
          <p:cNvPr id="3" name="Content Placeholder 2">
            <a:extLst>
              <a:ext uri="{FF2B5EF4-FFF2-40B4-BE49-F238E27FC236}">
                <a16:creationId xmlns:a16="http://schemas.microsoft.com/office/drawing/2014/main" id="{45A111AE-95CB-6471-7193-07B83B89305C}"/>
              </a:ext>
            </a:extLst>
          </p:cNvPr>
          <p:cNvSpPr>
            <a:spLocks noGrp="1"/>
          </p:cNvSpPr>
          <p:nvPr>
            <p:ph idx="1"/>
          </p:nvPr>
        </p:nvSpPr>
        <p:spPr>
          <a:xfrm>
            <a:off x="838200" y="1825625"/>
            <a:ext cx="6405880" cy="4351338"/>
          </a:xfrm>
        </p:spPr>
        <p:txBody>
          <a:bodyPr/>
          <a:lstStyle/>
          <a:p>
            <a:r>
              <a:rPr lang="en-US" dirty="0"/>
              <a:t>Now, you should see these files automatically in the folder</a:t>
            </a:r>
          </a:p>
          <a:p>
            <a:r>
              <a:rPr lang="en-US" dirty="0"/>
              <a:t>You will need to add Colocation, Field, Harmonization, and Outputs folders (see following slides)</a:t>
            </a:r>
          </a:p>
          <a:p>
            <a:r>
              <a:rPr lang="en-US" dirty="0"/>
              <a:t>You will also need to update your </a:t>
            </a:r>
            <a:r>
              <a:rPr lang="en-US" dirty="0" err="1"/>
              <a:t>deployment_log</a:t>
            </a:r>
            <a:r>
              <a:rPr lang="en-US" dirty="0"/>
              <a:t>!!!</a:t>
            </a:r>
          </a:p>
          <a:p>
            <a:endParaRPr lang="en-US" dirty="0"/>
          </a:p>
          <a:p>
            <a:endParaRPr lang="en-US" dirty="0"/>
          </a:p>
        </p:txBody>
      </p:sp>
      <p:pic>
        <p:nvPicPr>
          <p:cNvPr id="5" name="Picture 4">
            <a:extLst>
              <a:ext uri="{FF2B5EF4-FFF2-40B4-BE49-F238E27FC236}">
                <a16:creationId xmlns:a16="http://schemas.microsoft.com/office/drawing/2014/main" id="{A45E882F-1552-3411-1C3A-6E0D36B9AAB4}"/>
              </a:ext>
            </a:extLst>
          </p:cNvPr>
          <p:cNvPicPr>
            <a:picLocks noChangeAspect="1"/>
          </p:cNvPicPr>
          <p:nvPr/>
        </p:nvPicPr>
        <p:blipFill>
          <a:blip r:embed="rId2"/>
          <a:stretch>
            <a:fillRect/>
          </a:stretch>
        </p:blipFill>
        <p:spPr>
          <a:xfrm>
            <a:off x="7151393" y="1497477"/>
            <a:ext cx="4829985" cy="4351338"/>
          </a:xfrm>
          <a:prstGeom prst="rect">
            <a:avLst/>
          </a:prstGeom>
        </p:spPr>
      </p:pic>
    </p:spTree>
    <p:extLst>
      <p:ext uri="{BB962C8B-B14F-4D97-AF65-F5344CB8AC3E}">
        <p14:creationId xmlns:p14="http://schemas.microsoft.com/office/powerpoint/2010/main" val="8007496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90AA9-442A-332B-C452-31AD4679C7BA}"/>
              </a:ext>
            </a:extLst>
          </p:cNvPr>
          <p:cNvSpPr>
            <a:spLocks noGrp="1"/>
          </p:cNvSpPr>
          <p:nvPr>
            <p:ph type="title"/>
          </p:nvPr>
        </p:nvSpPr>
        <p:spPr/>
        <p:txBody>
          <a:bodyPr/>
          <a:lstStyle/>
          <a:p>
            <a:r>
              <a:rPr lang="en-US" dirty="0"/>
              <a:t>Folder set up:</a:t>
            </a:r>
          </a:p>
        </p:txBody>
      </p:sp>
      <p:sp>
        <p:nvSpPr>
          <p:cNvPr id="3" name="Content Placeholder 2">
            <a:extLst>
              <a:ext uri="{FF2B5EF4-FFF2-40B4-BE49-F238E27FC236}">
                <a16:creationId xmlns:a16="http://schemas.microsoft.com/office/drawing/2014/main" id="{311560AC-F719-5724-51A1-19DD05F029DF}"/>
              </a:ext>
            </a:extLst>
          </p:cNvPr>
          <p:cNvSpPr>
            <a:spLocks noGrp="1"/>
          </p:cNvSpPr>
          <p:nvPr>
            <p:ph idx="1"/>
          </p:nvPr>
        </p:nvSpPr>
        <p:spPr>
          <a:xfrm>
            <a:off x="838200" y="1825625"/>
            <a:ext cx="6302905" cy="4351338"/>
          </a:xfrm>
        </p:spPr>
        <p:txBody>
          <a:bodyPr/>
          <a:lstStyle/>
          <a:p>
            <a:r>
              <a:rPr lang="en-US" dirty="0"/>
              <a:t>Colocation and Field folders are the exact same as </a:t>
            </a:r>
            <a:r>
              <a:rPr lang="en-US" dirty="0" err="1"/>
              <a:t>matlab</a:t>
            </a:r>
            <a:r>
              <a:rPr lang="en-US" dirty="0"/>
              <a:t> MPC</a:t>
            </a:r>
          </a:p>
          <a:p>
            <a:r>
              <a:rPr lang="en-US" dirty="0"/>
              <a:t>Outputs folder can be empty to start. It is where output folders will be saved to</a:t>
            </a:r>
          </a:p>
          <a:p>
            <a:r>
              <a:rPr lang="en-US" dirty="0"/>
              <a:t>If using Spyder, there will be a folder called .</a:t>
            </a:r>
            <a:r>
              <a:rPr lang="en-US" dirty="0" err="1"/>
              <a:t>spyproject</a:t>
            </a:r>
            <a:r>
              <a:rPr lang="en-US" dirty="0"/>
              <a:t> (automatically generated when you create a project)</a:t>
            </a:r>
          </a:p>
          <a:p>
            <a:r>
              <a:rPr lang="en-US" dirty="0"/>
              <a:t>If using </a:t>
            </a:r>
            <a:r>
              <a:rPr lang="en-US" dirty="0" err="1"/>
              <a:t>pycharm</a:t>
            </a:r>
            <a:r>
              <a:rPr lang="en-US" dirty="0"/>
              <a:t>, there will be a .idea folder (automatically generated when you create a project)</a:t>
            </a:r>
          </a:p>
        </p:txBody>
      </p:sp>
      <p:pic>
        <p:nvPicPr>
          <p:cNvPr id="4" name="Picture 3">
            <a:extLst>
              <a:ext uri="{FF2B5EF4-FFF2-40B4-BE49-F238E27FC236}">
                <a16:creationId xmlns:a16="http://schemas.microsoft.com/office/drawing/2014/main" id="{115A9478-F834-2FDD-CFB2-BEEDCE764DE1}"/>
              </a:ext>
            </a:extLst>
          </p:cNvPr>
          <p:cNvPicPr>
            <a:picLocks noChangeAspect="1"/>
          </p:cNvPicPr>
          <p:nvPr/>
        </p:nvPicPr>
        <p:blipFill>
          <a:blip r:embed="rId3"/>
          <a:stretch>
            <a:fillRect/>
          </a:stretch>
        </p:blipFill>
        <p:spPr>
          <a:xfrm>
            <a:off x="7151393" y="1497477"/>
            <a:ext cx="4829985" cy="4351338"/>
          </a:xfrm>
          <a:prstGeom prst="rect">
            <a:avLst/>
          </a:prstGeom>
        </p:spPr>
      </p:pic>
    </p:spTree>
    <p:extLst>
      <p:ext uri="{BB962C8B-B14F-4D97-AF65-F5344CB8AC3E}">
        <p14:creationId xmlns:p14="http://schemas.microsoft.com/office/powerpoint/2010/main" val="26248896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F8A12-CA53-7771-E76A-A714584572E8}"/>
              </a:ext>
            </a:extLst>
          </p:cNvPr>
          <p:cNvSpPr>
            <a:spLocks noGrp="1"/>
          </p:cNvSpPr>
          <p:nvPr>
            <p:ph type="title"/>
          </p:nvPr>
        </p:nvSpPr>
        <p:spPr/>
        <p:txBody>
          <a:bodyPr/>
          <a:lstStyle/>
          <a:p>
            <a:r>
              <a:rPr lang="en-US" dirty="0"/>
              <a:t>Colocation Folder</a:t>
            </a:r>
          </a:p>
        </p:txBody>
      </p:sp>
      <p:sp>
        <p:nvSpPr>
          <p:cNvPr id="3" name="Content Placeholder 2">
            <a:extLst>
              <a:ext uri="{FF2B5EF4-FFF2-40B4-BE49-F238E27FC236}">
                <a16:creationId xmlns:a16="http://schemas.microsoft.com/office/drawing/2014/main" id="{3ED04FED-674F-43BA-C8A2-E4A9A096E500}"/>
              </a:ext>
            </a:extLst>
          </p:cNvPr>
          <p:cNvSpPr>
            <a:spLocks noGrp="1"/>
          </p:cNvSpPr>
          <p:nvPr>
            <p:ph idx="1"/>
          </p:nvPr>
        </p:nvSpPr>
        <p:spPr>
          <a:xfrm>
            <a:off x="838200" y="1825625"/>
            <a:ext cx="8864600" cy="4351338"/>
          </a:xfrm>
        </p:spPr>
        <p:txBody>
          <a:bodyPr>
            <a:normAutofit fontScale="92500"/>
          </a:bodyPr>
          <a:lstStyle/>
          <a:p>
            <a:r>
              <a:rPr lang="en-US" dirty="0"/>
              <a:t>Inside Colocation, there should be two folder: Pods and Reference</a:t>
            </a:r>
          </a:p>
          <a:p>
            <a:r>
              <a:rPr lang="en-US" dirty="0"/>
              <a:t>“Pods” will contain .txt files of raw pod data</a:t>
            </a:r>
          </a:p>
          <a:p>
            <a:pPr lvl="1"/>
            <a:r>
              <a:rPr lang="en-US" dirty="0"/>
              <a:t>There should be one pod file for each “colocation” file listed in the deployment log!</a:t>
            </a:r>
          </a:p>
          <a:p>
            <a:pPr lvl="2"/>
            <a:r>
              <a:rPr lang="en-US" dirty="0"/>
              <a:t>One file might be listed multiple times if it is for multiple pollutants though..</a:t>
            </a:r>
          </a:p>
          <a:p>
            <a:pPr lvl="1"/>
            <a:endParaRPr lang="en-US" dirty="0"/>
          </a:p>
          <a:p>
            <a:r>
              <a:rPr lang="en-US" dirty="0"/>
              <a:t>“Reference” will contain files of reference data</a:t>
            </a:r>
          </a:p>
          <a:p>
            <a:pPr lvl="1"/>
            <a:r>
              <a:rPr lang="en-US" dirty="0"/>
              <a:t>Can be either .csv or .xlsx</a:t>
            </a:r>
          </a:p>
          <a:p>
            <a:pPr lvl="1"/>
            <a:r>
              <a:rPr lang="en-US" dirty="0"/>
              <a:t>First column is “datetime”</a:t>
            </a:r>
          </a:p>
          <a:p>
            <a:pPr lvl="1"/>
            <a:r>
              <a:rPr lang="en-US" dirty="0"/>
              <a:t>After that, you can have as many columns you want of reference data.</a:t>
            </a:r>
          </a:p>
          <a:p>
            <a:pPr lvl="1"/>
            <a:endParaRPr lang="en-US" dirty="0"/>
          </a:p>
        </p:txBody>
      </p:sp>
      <p:pic>
        <p:nvPicPr>
          <p:cNvPr id="5" name="Picture 4">
            <a:extLst>
              <a:ext uri="{FF2B5EF4-FFF2-40B4-BE49-F238E27FC236}">
                <a16:creationId xmlns:a16="http://schemas.microsoft.com/office/drawing/2014/main" id="{CB81D6AD-6FD0-6CC7-EE82-C55A767FC54D}"/>
              </a:ext>
            </a:extLst>
          </p:cNvPr>
          <p:cNvPicPr>
            <a:picLocks noChangeAspect="1"/>
          </p:cNvPicPr>
          <p:nvPr/>
        </p:nvPicPr>
        <p:blipFill>
          <a:blip r:embed="rId2"/>
          <a:stretch>
            <a:fillRect/>
          </a:stretch>
        </p:blipFill>
        <p:spPr>
          <a:xfrm>
            <a:off x="9344445" y="1446235"/>
            <a:ext cx="2890950" cy="1445475"/>
          </a:xfrm>
          <a:prstGeom prst="rect">
            <a:avLst/>
          </a:prstGeom>
        </p:spPr>
      </p:pic>
      <p:pic>
        <p:nvPicPr>
          <p:cNvPr id="9" name="Picture 8">
            <a:extLst>
              <a:ext uri="{FF2B5EF4-FFF2-40B4-BE49-F238E27FC236}">
                <a16:creationId xmlns:a16="http://schemas.microsoft.com/office/drawing/2014/main" id="{CE274BAC-B6C2-7440-D1D2-BE3E7ABC9D3A}"/>
              </a:ext>
            </a:extLst>
          </p:cNvPr>
          <p:cNvPicPr>
            <a:picLocks noChangeAspect="1"/>
          </p:cNvPicPr>
          <p:nvPr/>
        </p:nvPicPr>
        <p:blipFill>
          <a:blip r:embed="rId3"/>
          <a:stretch>
            <a:fillRect/>
          </a:stretch>
        </p:blipFill>
        <p:spPr>
          <a:xfrm>
            <a:off x="9776380" y="4214654"/>
            <a:ext cx="1844200" cy="1729890"/>
          </a:xfrm>
          <a:prstGeom prst="rect">
            <a:avLst/>
          </a:prstGeom>
        </p:spPr>
      </p:pic>
      <p:pic>
        <p:nvPicPr>
          <p:cNvPr id="6" name="Picture 5">
            <a:extLst>
              <a:ext uri="{FF2B5EF4-FFF2-40B4-BE49-F238E27FC236}">
                <a16:creationId xmlns:a16="http://schemas.microsoft.com/office/drawing/2014/main" id="{A8D4D0EB-F519-30FC-C742-D135B91C0385}"/>
              </a:ext>
            </a:extLst>
          </p:cNvPr>
          <p:cNvPicPr>
            <a:picLocks noChangeAspect="1"/>
          </p:cNvPicPr>
          <p:nvPr/>
        </p:nvPicPr>
        <p:blipFill>
          <a:blip r:embed="rId4"/>
          <a:stretch>
            <a:fillRect/>
          </a:stretch>
        </p:blipFill>
        <p:spPr>
          <a:xfrm>
            <a:off x="9032282" y="2771798"/>
            <a:ext cx="2453853" cy="708721"/>
          </a:xfrm>
          <a:prstGeom prst="rect">
            <a:avLst/>
          </a:prstGeom>
        </p:spPr>
      </p:pic>
    </p:spTree>
    <p:extLst>
      <p:ext uri="{BB962C8B-B14F-4D97-AF65-F5344CB8AC3E}">
        <p14:creationId xmlns:p14="http://schemas.microsoft.com/office/powerpoint/2010/main" val="30067395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D8847-A02F-7FBE-9324-09136BCAEBBF}"/>
              </a:ext>
            </a:extLst>
          </p:cNvPr>
          <p:cNvSpPr>
            <a:spLocks noGrp="1"/>
          </p:cNvSpPr>
          <p:nvPr>
            <p:ph type="title"/>
          </p:nvPr>
        </p:nvSpPr>
        <p:spPr/>
        <p:txBody>
          <a:bodyPr/>
          <a:lstStyle/>
          <a:p>
            <a:r>
              <a:rPr lang="en-US" dirty="0"/>
              <a:t>Harmonization Folder (needed for 1-hop and universal </a:t>
            </a:r>
            <a:r>
              <a:rPr lang="en-US" dirty="0" err="1"/>
              <a:t>cal</a:t>
            </a:r>
            <a:r>
              <a:rPr lang="en-US" dirty="0"/>
              <a:t>)</a:t>
            </a:r>
          </a:p>
        </p:txBody>
      </p:sp>
      <p:sp>
        <p:nvSpPr>
          <p:cNvPr id="3" name="Content Placeholder 2">
            <a:extLst>
              <a:ext uri="{FF2B5EF4-FFF2-40B4-BE49-F238E27FC236}">
                <a16:creationId xmlns:a16="http://schemas.microsoft.com/office/drawing/2014/main" id="{23D780C8-DA91-C74C-63DE-0F82B45E9E71}"/>
              </a:ext>
            </a:extLst>
          </p:cNvPr>
          <p:cNvSpPr>
            <a:spLocks noGrp="1"/>
          </p:cNvSpPr>
          <p:nvPr>
            <p:ph idx="1"/>
          </p:nvPr>
        </p:nvSpPr>
        <p:spPr>
          <a:xfrm>
            <a:off x="838200" y="1825625"/>
            <a:ext cx="6731000" cy="4351338"/>
          </a:xfrm>
        </p:spPr>
        <p:txBody>
          <a:bodyPr/>
          <a:lstStyle/>
          <a:p>
            <a:r>
              <a:rPr lang="en-US" dirty="0"/>
              <a:t>Within Harmonization, there should be.txt files of the harmonization data</a:t>
            </a:r>
          </a:p>
          <a:p>
            <a:pPr lvl="1"/>
            <a:r>
              <a:rPr lang="en-US" dirty="0"/>
              <a:t>One pod file per deployment log entry!</a:t>
            </a:r>
          </a:p>
          <a:p>
            <a:r>
              <a:rPr lang="en-US" dirty="0"/>
              <a:t>This should include both field and colocation pods’ harmonization data!</a:t>
            </a:r>
          </a:p>
          <a:p>
            <a:pPr lvl="1"/>
            <a:r>
              <a:rPr lang="en-US" dirty="0"/>
              <a:t>In other words, the data for the secondary standard pod should also be in this folder</a:t>
            </a:r>
          </a:p>
        </p:txBody>
      </p:sp>
      <p:pic>
        <p:nvPicPr>
          <p:cNvPr id="9" name="Picture 8">
            <a:extLst>
              <a:ext uri="{FF2B5EF4-FFF2-40B4-BE49-F238E27FC236}">
                <a16:creationId xmlns:a16="http://schemas.microsoft.com/office/drawing/2014/main" id="{2ACC829F-79DA-4296-93FC-3400074DBB5D}"/>
              </a:ext>
            </a:extLst>
          </p:cNvPr>
          <p:cNvPicPr>
            <a:picLocks noChangeAspect="1"/>
          </p:cNvPicPr>
          <p:nvPr/>
        </p:nvPicPr>
        <p:blipFill>
          <a:blip r:embed="rId2"/>
          <a:stretch>
            <a:fillRect/>
          </a:stretch>
        </p:blipFill>
        <p:spPr>
          <a:xfrm>
            <a:off x="8534400" y="1685608"/>
            <a:ext cx="2205787" cy="2171677"/>
          </a:xfrm>
          <a:prstGeom prst="rect">
            <a:avLst/>
          </a:prstGeom>
        </p:spPr>
      </p:pic>
    </p:spTree>
    <p:extLst>
      <p:ext uri="{BB962C8B-B14F-4D97-AF65-F5344CB8AC3E}">
        <p14:creationId xmlns:p14="http://schemas.microsoft.com/office/powerpoint/2010/main" val="3661597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78521-70E7-C4D4-AB80-4678AECCD8A0}"/>
              </a:ext>
            </a:extLst>
          </p:cNvPr>
          <p:cNvSpPr>
            <a:spLocks noGrp="1"/>
          </p:cNvSpPr>
          <p:nvPr>
            <p:ph type="title"/>
          </p:nvPr>
        </p:nvSpPr>
        <p:spPr/>
        <p:txBody>
          <a:bodyPr/>
          <a:lstStyle/>
          <a:p>
            <a:r>
              <a:rPr lang="en-US" dirty="0"/>
              <a:t>Field folder</a:t>
            </a:r>
          </a:p>
        </p:txBody>
      </p:sp>
      <p:sp>
        <p:nvSpPr>
          <p:cNvPr id="3" name="Content Placeholder 2">
            <a:extLst>
              <a:ext uri="{FF2B5EF4-FFF2-40B4-BE49-F238E27FC236}">
                <a16:creationId xmlns:a16="http://schemas.microsoft.com/office/drawing/2014/main" id="{9995884C-0AE9-7D85-C4C1-30A7A15F0A92}"/>
              </a:ext>
            </a:extLst>
          </p:cNvPr>
          <p:cNvSpPr>
            <a:spLocks noGrp="1"/>
          </p:cNvSpPr>
          <p:nvPr>
            <p:ph idx="1"/>
          </p:nvPr>
        </p:nvSpPr>
        <p:spPr/>
        <p:txBody>
          <a:bodyPr/>
          <a:lstStyle/>
          <a:p>
            <a:r>
              <a:rPr lang="en-US" dirty="0"/>
              <a:t>Within Field, there should be.txt files of the field data</a:t>
            </a:r>
          </a:p>
          <a:p>
            <a:pPr lvl="1"/>
            <a:r>
              <a:rPr lang="en-US" dirty="0"/>
              <a:t>One pod file per deployment log entry!</a:t>
            </a:r>
          </a:p>
          <a:p>
            <a:pPr lvl="1"/>
            <a:endParaRPr lang="en-US" dirty="0"/>
          </a:p>
          <a:p>
            <a:endParaRPr lang="en-US" dirty="0"/>
          </a:p>
        </p:txBody>
      </p:sp>
      <p:pic>
        <p:nvPicPr>
          <p:cNvPr id="5" name="Picture 4">
            <a:extLst>
              <a:ext uri="{FF2B5EF4-FFF2-40B4-BE49-F238E27FC236}">
                <a16:creationId xmlns:a16="http://schemas.microsoft.com/office/drawing/2014/main" id="{549F6E11-9ED5-1A03-A76C-471C351AD5B0}"/>
              </a:ext>
            </a:extLst>
          </p:cNvPr>
          <p:cNvPicPr>
            <a:picLocks noChangeAspect="1"/>
          </p:cNvPicPr>
          <p:nvPr/>
        </p:nvPicPr>
        <p:blipFill>
          <a:blip r:embed="rId2"/>
          <a:stretch>
            <a:fillRect/>
          </a:stretch>
        </p:blipFill>
        <p:spPr>
          <a:xfrm>
            <a:off x="7865989" y="2500839"/>
            <a:ext cx="2762565" cy="2673129"/>
          </a:xfrm>
          <a:prstGeom prst="rect">
            <a:avLst/>
          </a:prstGeom>
        </p:spPr>
      </p:pic>
    </p:spTree>
    <p:extLst>
      <p:ext uri="{BB962C8B-B14F-4D97-AF65-F5344CB8AC3E}">
        <p14:creationId xmlns:p14="http://schemas.microsoft.com/office/powerpoint/2010/main" val="13462132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72939-7D81-E42F-DCF2-32DC1EB87C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28B2EA-BD97-E655-0083-050908FB7A74}"/>
              </a:ext>
            </a:extLst>
          </p:cNvPr>
          <p:cNvSpPr>
            <a:spLocks noGrp="1"/>
          </p:cNvSpPr>
          <p:nvPr>
            <p:ph type="title"/>
          </p:nvPr>
        </p:nvSpPr>
        <p:spPr/>
        <p:txBody>
          <a:bodyPr/>
          <a:lstStyle/>
          <a:p>
            <a:r>
              <a:rPr lang="en-US" dirty="0"/>
              <a:t>Deployment log</a:t>
            </a:r>
          </a:p>
        </p:txBody>
      </p:sp>
      <p:sp>
        <p:nvSpPr>
          <p:cNvPr id="3" name="Content Placeholder 2">
            <a:extLst>
              <a:ext uri="{FF2B5EF4-FFF2-40B4-BE49-F238E27FC236}">
                <a16:creationId xmlns:a16="http://schemas.microsoft.com/office/drawing/2014/main" id="{9ED7F480-F4A7-152F-8D64-7C8619B3A55E}"/>
              </a:ext>
            </a:extLst>
          </p:cNvPr>
          <p:cNvSpPr>
            <a:spLocks noGrp="1"/>
          </p:cNvSpPr>
          <p:nvPr>
            <p:ph idx="1"/>
          </p:nvPr>
        </p:nvSpPr>
        <p:spPr>
          <a:xfrm>
            <a:off x="838200" y="1825625"/>
            <a:ext cx="11079480" cy="4351338"/>
          </a:xfrm>
        </p:spPr>
        <p:txBody>
          <a:bodyPr/>
          <a:lstStyle/>
          <a:p>
            <a:r>
              <a:rPr lang="en-US" dirty="0"/>
              <a:t>You MUST use a different deployment log for 1-cal/1-hop compared to individual calibration. This is because with individual, there should be a colocation file for each pod. In contrast, there should only be a colocation file for one pod when using 1-hop or 1-cal cal.</a:t>
            </a:r>
          </a:p>
          <a:p>
            <a:r>
              <a:rPr lang="en-US" dirty="0"/>
              <a:t>For individual, the deployment log should be named “deployment_log_individual.xlsx” or “</a:t>
            </a:r>
            <a:r>
              <a:rPr lang="en-US" dirty="0" err="1"/>
              <a:t>deployment_log</a:t>
            </a:r>
            <a:r>
              <a:rPr lang="en-US" dirty="0"/>
              <a:t> _individual.csv”</a:t>
            </a:r>
          </a:p>
          <a:p>
            <a:r>
              <a:rPr lang="en-US" dirty="0"/>
              <a:t>For 1-hop, the deployment log should be named “deployment_log_1hop1cal.xlsx” or “</a:t>
            </a:r>
            <a:r>
              <a:rPr lang="en-US" dirty="0" err="1"/>
              <a:t>deployment_log</a:t>
            </a:r>
            <a:r>
              <a:rPr lang="en-US" dirty="0"/>
              <a:t> _1hop1cal.csv”</a:t>
            </a:r>
          </a:p>
          <a:p>
            <a:endParaRPr lang="en-US" dirty="0"/>
          </a:p>
          <a:p>
            <a:endParaRPr lang="en-US" dirty="0"/>
          </a:p>
        </p:txBody>
      </p:sp>
    </p:spTree>
    <p:extLst>
      <p:ext uri="{BB962C8B-B14F-4D97-AF65-F5344CB8AC3E}">
        <p14:creationId xmlns:p14="http://schemas.microsoft.com/office/powerpoint/2010/main" val="33252237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BCE1D7D-55CA-8765-BA06-D8C9B6ADECD4}"/>
              </a:ext>
            </a:extLst>
          </p:cNvPr>
          <p:cNvSpPr>
            <a:spLocks noGrp="1"/>
          </p:cNvSpPr>
          <p:nvPr>
            <p:ph idx="1"/>
          </p:nvPr>
        </p:nvSpPr>
        <p:spPr>
          <a:xfrm>
            <a:off x="472440" y="2796857"/>
            <a:ext cx="10515600" cy="4351338"/>
          </a:xfrm>
        </p:spPr>
        <p:txBody>
          <a:bodyPr>
            <a:normAutofit/>
          </a:bodyPr>
          <a:lstStyle/>
          <a:p>
            <a:r>
              <a:rPr lang="en-US" sz="2400" b="1" dirty="0" err="1"/>
              <a:t>file_name</a:t>
            </a:r>
            <a:r>
              <a:rPr lang="en-US" sz="2400" b="1" dirty="0"/>
              <a:t>: </a:t>
            </a:r>
            <a:r>
              <a:rPr lang="en-US" sz="2400" dirty="0"/>
              <a:t>The full name of the data file (do not write .txt)</a:t>
            </a:r>
          </a:p>
          <a:p>
            <a:r>
              <a:rPr lang="en-US" sz="2400" b="1" dirty="0"/>
              <a:t>Deployment: </a:t>
            </a:r>
            <a:r>
              <a:rPr lang="en-US" sz="2400" dirty="0"/>
              <a:t>C for colocation, H for harmonization, F for field</a:t>
            </a:r>
          </a:p>
          <a:p>
            <a:r>
              <a:rPr lang="en-US" sz="2400" b="1" dirty="0"/>
              <a:t>Location</a:t>
            </a:r>
            <a:r>
              <a:rPr lang="en-US" sz="2400" dirty="0"/>
              <a:t>: Only important for field. Python will plot field data based on location.</a:t>
            </a:r>
          </a:p>
          <a:p>
            <a:r>
              <a:rPr lang="en-US" sz="2400" b="1" dirty="0"/>
              <a:t>Pollutant: </a:t>
            </a:r>
            <a:r>
              <a:rPr lang="en-US" sz="2400" dirty="0"/>
              <a:t>If it is C (colocation), add the pollutant of interest. This is because some of us have multiple colocation sites and we need to differentiate</a:t>
            </a:r>
          </a:p>
          <a:p>
            <a:pPr lvl="1"/>
            <a:r>
              <a:rPr lang="en-US" sz="1600" dirty="0"/>
              <a:t>If it is not C, you can leave it blank</a:t>
            </a:r>
          </a:p>
          <a:p>
            <a:r>
              <a:rPr lang="en-US" sz="2400" b="1" dirty="0" err="1"/>
              <a:t>timezone</a:t>
            </a:r>
            <a:r>
              <a:rPr lang="en-US" sz="2400" b="1" dirty="0"/>
              <a:t>: </a:t>
            </a:r>
            <a:r>
              <a:rPr lang="en-US" sz="2400" dirty="0"/>
              <a:t>specify what </a:t>
            </a:r>
            <a:r>
              <a:rPr lang="en-US" sz="2400" dirty="0" err="1"/>
              <a:t>timezone</a:t>
            </a:r>
            <a:r>
              <a:rPr lang="en-US" sz="2400" dirty="0"/>
              <a:t> this pod file is in</a:t>
            </a:r>
          </a:p>
          <a:p>
            <a:pPr lvl="1"/>
            <a:r>
              <a:rPr lang="en-US" sz="2000" dirty="0"/>
              <a:t>Options are MST, MDT, PST, PDT, CST, CDT, EST, EDT, UTC, UTC+1 up to UTC+14 and UTC-1 to UTC-14.</a:t>
            </a:r>
          </a:p>
          <a:p>
            <a:pPr lvl="2"/>
            <a:r>
              <a:rPr lang="en-US" sz="1600" dirty="0"/>
              <a:t>ST: standard time, DT: daylight savings time</a:t>
            </a:r>
          </a:p>
        </p:txBody>
      </p:sp>
      <p:sp>
        <p:nvSpPr>
          <p:cNvPr id="9" name="Title 1">
            <a:extLst>
              <a:ext uri="{FF2B5EF4-FFF2-40B4-BE49-F238E27FC236}">
                <a16:creationId xmlns:a16="http://schemas.microsoft.com/office/drawing/2014/main" id="{C0F57209-C841-FF35-3BB7-80ADF5AE94C6}"/>
              </a:ext>
            </a:extLst>
          </p:cNvPr>
          <p:cNvSpPr txBox="1">
            <a:spLocks/>
          </p:cNvSpPr>
          <p:nvPr/>
        </p:nvSpPr>
        <p:spPr>
          <a:xfrm>
            <a:off x="0" y="354827"/>
            <a:ext cx="7564124" cy="210531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Deployment log:</a:t>
            </a:r>
            <a:endParaRPr lang="en-US" sz="2400" dirty="0"/>
          </a:p>
        </p:txBody>
      </p:sp>
      <p:pic>
        <p:nvPicPr>
          <p:cNvPr id="5" name="Picture 4">
            <a:extLst>
              <a:ext uri="{FF2B5EF4-FFF2-40B4-BE49-F238E27FC236}">
                <a16:creationId xmlns:a16="http://schemas.microsoft.com/office/drawing/2014/main" id="{42BA7FFD-66D0-FB2E-30A3-B6970FE819AE}"/>
              </a:ext>
            </a:extLst>
          </p:cNvPr>
          <p:cNvPicPr>
            <a:picLocks noChangeAspect="1"/>
          </p:cNvPicPr>
          <p:nvPr/>
        </p:nvPicPr>
        <p:blipFill>
          <a:blip r:embed="rId2"/>
          <a:stretch>
            <a:fillRect/>
          </a:stretch>
        </p:blipFill>
        <p:spPr>
          <a:xfrm>
            <a:off x="7272169" y="473162"/>
            <a:ext cx="4802996" cy="1706531"/>
          </a:xfrm>
          <a:prstGeom prst="rect">
            <a:avLst/>
          </a:prstGeom>
        </p:spPr>
      </p:pic>
    </p:spTree>
    <p:extLst>
      <p:ext uri="{BB962C8B-B14F-4D97-AF65-F5344CB8AC3E}">
        <p14:creationId xmlns:p14="http://schemas.microsoft.com/office/powerpoint/2010/main" val="31385313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1C25B-F157-7B9C-D060-1088851AD942}"/>
              </a:ext>
            </a:extLst>
          </p:cNvPr>
          <p:cNvSpPr>
            <a:spLocks noGrp="1"/>
          </p:cNvSpPr>
          <p:nvPr>
            <p:ph type="title"/>
          </p:nvPr>
        </p:nvSpPr>
        <p:spPr>
          <a:xfrm>
            <a:off x="88000" y="91756"/>
            <a:ext cx="5432911" cy="1325563"/>
          </a:xfrm>
        </p:spPr>
        <p:txBody>
          <a:bodyPr>
            <a:normAutofit/>
          </a:bodyPr>
          <a:lstStyle/>
          <a:p>
            <a:r>
              <a:rPr lang="en-US" dirty="0"/>
              <a:t>Deployment log</a:t>
            </a:r>
          </a:p>
        </p:txBody>
      </p:sp>
      <p:sp>
        <p:nvSpPr>
          <p:cNvPr id="3" name="Content Placeholder 2">
            <a:extLst>
              <a:ext uri="{FF2B5EF4-FFF2-40B4-BE49-F238E27FC236}">
                <a16:creationId xmlns:a16="http://schemas.microsoft.com/office/drawing/2014/main" id="{5BCE1D7D-55CA-8765-BA06-D8C9B6ADECD4}"/>
              </a:ext>
            </a:extLst>
          </p:cNvPr>
          <p:cNvSpPr>
            <a:spLocks noGrp="1"/>
          </p:cNvSpPr>
          <p:nvPr>
            <p:ph idx="1"/>
          </p:nvPr>
        </p:nvSpPr>
        <p:spPr>
          <a:xfrm>
            <a:off x="604520" y="2248347"/>
            <a:ext cx="10515600" cy="4330887"/>
          </a:xfrm>
        </p:spPr>
        <p:txBody>
          <a:bodyPr>
            <a:normAutofit/>
          </a:bodyPr>
          <a:lstStyle/>
          <a:p>
            <a:pPr marL="0" indent="0">
              <a:buNone/>
            </a:pPr>
            <a:r>
              <a:rPr lang="en-US" dirty="0"/>
              <a:t>Columns:</a:t>
            </a:r>
          </a:p>
          <a:p>
            <a:r>
              <a:rPr lang="en-US" b="1" dirty="0"/>
              <a:t>start: </a:t>
            </a:r>
            <a:r>
              <a:rPr lang="en-US" dirty="0"/>
              <a:t>when did the deployment start?</a:t>
            </a:r>
          </a:p>
          <a:p>
            <a:pPr lvl="1"/>
            <a:r>
              <a:rPr lang="en-US" i="1" dirty="0"/>
              <a:t>You do not need to account for warm-up here, as that will be removed in preprocessing</a:t>
            </a:r>
          </a:p>
          <a:p>
            <a:r>
              <a:rPr lang="en-US" b="1" dirty="0"/>
              <a:t>end: </a:t>
            </a:r>
            <a:r>
              <a:rPr lang="en-US" dirty="0"/>
              <a:t>when did the deployment end?</a:t>
            </a:r>
          </a:p>
          <a:p>
            <a:r>
              <a:rPr lang="en-US" b="1" dirty="0" err="1"/>
              <a:t>header_type</a:t>
            </a:r>
            <a:r>
              <a:rPr lang="en-US" b="1" dirty="0"/>
              <a:t>: </a:t>
            </a:r>
            <a:r>
              <a:rPr lang="en-US" dirty="0"/>
              <a:t>specify what the headers/columns are for the specific file</a:t>
            </a:r>
          </a:p>
          <a:p>
            <a:pPr lvl="1"/>
            <a:r>
              <a:rPr lang="en-US" dirty="0"/>
              <a:t>Now, you can have diff columns for the same pod, as long as you have separate data files for each firmware version</a:t>
            </a:r>
          </a:p>
          <a:p>
            <a:endParaRPr lang="en-US" b="1" dirty="0"/>
          </a:p>
        </p:txBody>
      </p:sp>
      <p:pic>
        <p:nvPicPr>
          <p:cNvPr id="5" name="Picture 4">
            <a:extLst>
              <a:ext uri="{FF2B5EF4-FFF2-40B4-BE49-F238E27FC236}">
                <a16:creationId xmlns:a16="http://schemas.microsoft.com/office/drawing/2014/main" id="{7A17E6F1-4C0C-A574-4626-BA1854C08E6B}"/>
              </a:ext>
            </a:extLst>
          </p:cNvPr>
          <p:cNvPicPr>
            <a:picLocks noChangeAspect="1"/>
          </p:cNvPicPr>
          <p:nvPr/>
        </p:nvPicPr>
        <p:blipFill>
          <a:blip r:embed="rId2"/>
          <a:stretch>
            <a:fillRect/>
          </a:stretch>
        </p:blipFill>
        <p:spPr>
          <a:xfrm>
            <a:off x="5520911" y="364660"/>
            <a:ext cx="5925377" cy="2105319"/>
          </a:xfrm>
          <a:prstGeom prst="rect">
            <a:avLst/>
          </a:prstGeom>
        </p:spPr>
      </p:pic>
    </p:spTree>
    <p:extLst>
      <p:ext uri="{BB962C8B-B14F-4D97-AF65-F5344CB8AC3E}">
        <p14:creationId xmlns:p14="http://schemas.microsoft.com/office/powerpoint/2010/main" val="33383844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4AD648AB-B852-16C7-3FC8-FF484C1495D4}"/>
              </a:ext>
            </a:extLst>
          </p:cNvPr>
          <p:cNvSpPr>
            <a:spLocks noGrp="1"/>
          </p:cNvSpPr>
          <p:nvPr>
            <p:ph type="title"/>
          </p:nvPr>
        </p:nvSpPr>
        <p:spPr/>
        <p:txBody>
          <a:bodyPr/>
          <a:lstStyle/>
          <a:p>
            <a:r>
              <a:rPr lang="en-US" dirty="0"/>
              <a:t>Comparing the two deployment logs</a:t>
            </a:r>
          </a:p>
        </p:txBody>
      </p:sp>
      <p:sp>
        <p:nvSpPr>
          <p:cNvPr id="11" name="Text Placeholder 10">
            <a:extLst>
              <a:ext uri="{FF2B5EF4-FFF2-40B4-BE49-F238E27FC236}">
                <a16:creationId xmlns:a16="http://schemas.microsoft.com/office/drawing/2014/main" id="{623E35E5-9CE1-1240-61E6-F15780FF90B3}"/>
              </a:ext>
            </a:extLst>
          </p:cNvPr>
          <p:cNvSpPr>
            <a:spLocks noGrp="1"/>
          </p:cNvSpPr>
          <p:nvPr>
            <p:ph type="body" idx="1"/>
          </p:nvPr>
        </p:nvSpPr>
        <p:spPr>
          <a:xfrm>
            <a:off x="839788" y="1429408"/>
            <a:ext cx="5157787" cy="504496"/>
          </a:xfrm>
        </p:spPr>
        <p:txBody>
          <a:bodyPr/>
          <a:lstStyle/>
          <a:p>
            <a:r>
              <a:rPr lang="en-US" dirty="0"/>
              <a:t>deployment_log_1hop1cal</a:t>
            </a:r>
          </a:p>
        </p:txBody>
      </p:sp>
      <p:sp>
        <p:nvSpPr>
          <p:cNvPr id="13" name="Text Placeholder 12">
            <a:extLst>
              <a:ext uri="{FF2B5EF4-FFF2-40B4-BE49-F238E27FC236}">
                <a16:creationId xmlns:a16="http://schemas.microsoft.com/office/drawing/2014/main" id="{05AB565E-2489-CA41-4E23-FF4088FC16D9}"/>
              </a:ext>
            </a:extLst>
          </p:cNvPr>
          <p:cNvSpPr>
            <a:spLocks noGrp="1"/>
          </p:cNvSpPr>
          <p:nvPr>
            <p:ph type="body" sz="quarter" idx="3"/>
          </p:nvPr>
        </p:nvSpPr>
        <p:spPr>
          <a:xfrm>
            <a:off x="6169024" y="1429408"/>
            <a:ext cx="5183188" cy="504496"/>
          </a:xfrm>
        </p:spPr>
        <p:txBody>
          <a:bodyPr/>
          <a:lstStyle/>
          <a:p>
            <a:r>
              <a:rPr lang="en-US" dirty="0" err="1"/>
              <a:t>deployment_log_individual</a:t>
            </a:r>
            <a:endParaRPr lang="en-US" dirty="0"/>
          </a:p>
        </p:txBody>
      </p:sp>
      <p:pic>
        <p:nvPicPr>
          <p:cNvPr id="5" name="Picture 4">
            <a:extLst>
              <a:ext uri="{FF2B5EF4-FFF2-40B4-BE49-F238E27FC236}">
                <a16:creationId xmlns:a16="http://schemas.microsoft.com/office/drawing/2014/main" id="{2EE6DB94-1F30-E399-4DE7-F91FD593FBE0}"/>
              </a:ext>
            </a:extLst>
          </p:cNvPr>
          <p:cNvPicPr>
            <a:picLocks noChangeAspect="1"/>
          </p:cNvPicPr>
          <p:nvPr/>
        </p:nvPicPr>
        <p:blipFill>
          <a:blip r:embed="rId2"/>
          <a:srcRect r="42050"/>
          <a:stretch>
            <a:fillRect/>
          </a:stretch>
        </p:blipFill>
        <p:spPr>
          <a:xfrm>
            <a:off x="1326080" y="2132497"/>
            <a:ext cx="4085159" cy="4429743"/>
          </a:xfrm>
          <a:prstGeom prst="rect">
            <a:avLst/>
          </a:prstGeom>
        </p:spPr>
      </p:pic>
      <p:pic>
        <p:nvPicPr>
          <p:cNvPr id="7" name="Picture 6">
            <a:extLst>
              <a:ext uri="{FF2B5EF4-FFF2-40B4-BE49-F238E27FC236}">
                <a16:creationId xmlns:a16="http://schemas.microsoft.com/office/drawing/2014/main" id="{398CAC84-EF21-E29F-B649-8BB4F35999E9}"/>
              </a:ext>
            </a:extLst>
          </p:cNvPr>
          <p:cNvPicPr>
            <a:picLocks noChangeAspect="1"/>
          </p:cNvPicPr>
          <p:nvPr/>
        </p:nvPicPr>
        <p:blipFill>
          <a:blip r:embed="rId3"/>
          <a:srcRect r="38610" b="16822"/>
          <a:stretch>
            <a:fillRect/>
          </a:stretch>
        </p:blipFill>
        <p:spPr>
          <a:xfrm>
            <a:off x="6877157" y="2093123"/>
            <a:ext cx="3766921" cy="4376619"/>
          </a:xfrm>
          <a:prstGeom prst="rect">
            <a:avLst/>
          </a:prstGeom>
        </p:spPr>
      </p:pic>
      <p:sp>
        <p:nvSpPr>
          <p:cNvPr id="15" name="Rectangle 14">
            <a:extLst>
              <a:ext uri="{FF2B5EF4-FFF2-40B4-BE49-F238E27FC236}">
                <a16:creationId xmlns:a16="http://schemas.microsoft.com/office/drawing/2014/main" id="{CD6C4697-7E99-C6E7-3336-A91AAF988ABE}"/>
              </a:ext>
            </a:extLst>
          </p:cNvPr>
          <p:cNvSpPr/>
          <p:nvPr/>
        </p:nvSpPr>
        <p:spPr>
          <a:xfrm>
            <a:off x="82004" y="2402874"/>
            <a:ext cx="1465918" cy="8868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Just one colocation pod (SSL6 or SSL2) per pollutant</a:t>
            </a:r>
          </a:p>
        </p:txBody>
      </p:sp>
      <p:sp>
        <p:nvSpPr>
          <p:cNvPr id="16" name="Rectangle 15">
            <a:extLst>
              <a:ext uri="{FF2B5EF4-FFF2-40B4-BE49-F238E27FC236}">
                <a16:creationId xmlns:a16="http://schemas.microsoft.com/office/drawing/2014/main" id="{D1460ADC-0C72-A690-A54F-037A42ADB0DA}"/>
              </a:ext>
            </a:extLst>
          </p:cNvPr>
          <p:cNvSpPr/>
          <p:nvPr/>
        </p:nvSpPr>
        <p:spPr>
          <a:xfrm>
            <a:off x="82004" y="4495695"/>
            <a:ext cx="1465918" cy="8868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Harmonization files listed for all field pods and colocation pods</a:t>
            </a:r>
          </a:p>
        </p:txBody>
      </p:sp>
      <p:sp>
        <p:nvSpPr>
          <p:cNvPr id="18" name="Rectangle 17">
            <a:extLst>
              <a:ext uri="{FF2B5EF4-FFF2-40B4-BE49-F238E27FC236}">
                <a16:creationId xmlns:a16="http://schemas.microsoft.com/office/drawing/2014/main" id="{9D020440-5D80-3DB8-9529-F158A9C9B030}"/>
              </a:ext>
            </a:extLst>
          </p:cNvPr>
          <p:cNvSpPr/>
          <p:nvPr/>
        </p:nvSpPr>
        <p:spPr>
          <a:xfrm>
            <a:off x="10619253" y="3608831"/>
            <a:ext cx="1465918" cy="8868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Colocation file for each pod + pollutant.</a:t>
            </a:r>
          </a:p>
        </p:txBody>
      </p:sp>
      <p:sp>
        <p:nvSpPr>
          <p:cNvPr id="19" name="Rectangle 18">
            <a:extLst>
              <a:ext uri="{FF2B5EF4-FFF2-40B4-BE49-F238E27FC236}">
                <a16:creationId xmlns:a16="http://schemas.microsoft.com/office/drawing/2014/main" id="{DB053827-DF9B-C373-5E8A-DC23C7AE60FC}"/>
              </a:ext>
            </a:extLst>
          </p:cNvPr>
          <p:cNvSpPr/>
          <p:nvPr/>
        </p:nvSpPr>
        <p:spPr>
          <a:xfrm>
            <a:off x="10619253" y="5567971"/>
            <a:ext cx="1465918" cy="8868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No harmonization files</a:t>
            </a:r>
          </a:p>
        </p:txBody>
      </p:sp>
    </p:spTree>
    <p:extLst>
      <p:ext uri="{BB962C8B-B14F-4D97-AF65-F5344CB8AC3E}">
        <p14:creationId xmlns:p14="http://schemas.microsoft.com/office/powerpoint/2010/main" val="16516835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4463D-6901-80CE-1CDB-370A5641BAA4}"/>
              </a:ext>
            </a:extLst>
          </p:cNvPr>
          <p:cNvSpPr>
            <a:spLocks noGrp="1"/>
          </p:cNvSpPr>
          <p:nvPr>
            <p:ph type="title"/>
          </p:nvPr>
        </p:nvSpPr>
        <p:spPr/>
        <p:txBody>
          <a:bodyPr/>
          <a:lstStyle/>
          <a:p>
            <a:r>
              <a:rPr lang="en-US" dirty="0"/>
              <a:t>A note on data file naming conventions</a:t>
            </a:r>
          </a:p>
        </p:txBody>
      </p:sp>
      <p:sp>
        <p:nvSpPr>
          <p:cNvPr id="3" name="Content Placeholder 2">
            <a:extLst>
              <a:ext uri="{FF2B5EF4-FFF2-40B4-BE49-F238E27FC236}">
                <a16:creationId xmlns:a16="http://schemas.microsoft.com/office/drawing/2014/main" id="{5DB4DE54-C642-2D79-E479-8F8DB95C722A}"/>
              </a:ext>
            </a:extLst>
          </p:cNvPr>
          <p:cNvSpPr>
            <a:spLocks noGrp="1"/>
          </p:cNvSpPr>
          <p:nvPr>
            <p:ph idx="1"/>
          </p:nvPr>
        </p:nvSpPr>
        <p:spPr/>
        <p:txBody>
          <a:bodyPr/>
          <a:lstStyle/>
          <a:p>
            <a:r>
              <a:rPr lang="en-US" dirty="0"/>
              <a:t>Pod names are identified by whatever comes before the underscore “_” in the file name</a:t>
            </a:r>
          </a:p>
          <a:p>
            <a:pPr lvl="1"/>
            <a:r>
              <a:rPr lang="en-US" dirty="0"/>
              <a:t>So if a file name is C24_0123_2212, the pod name would be C24</a:t>
            </a:r>
          </a:p>
          <a:p>
            <a:pPr lvl="1"/>
            <a:r>
              <a:rPr lang="en-US" dirty="0"/>
              <a:t>For PodID25_cadkfjladkjfl, the pod name would be PodID25</a:t>
            </a:r>
          </a:p>
          <a:p>
            <a:r>
              <a:rPr lang="en-US" dirty="0"/>
              <a:t>You can have anything you want after the underscore</a:t>
            </a:r>
          </a:p>
          <a:p>
            <a:r>
              <a:rPr lang="en-US" dirty="0"/>
              <a:t>Python will make a list of each of the individual pod names (C24, PodID25) and combine data files together based on what pod they come from</a:t>
            </a:r>
          </a:p>
          <a:p>
            <a:pPr lvl="1"/>
            <a:r>
              <a:rPr lang="en-US" dirty="0"/>
              <a:t>So you can have multiple files, all listed in the deployment log, that will get combined as long as they have the same pod name</a:t>
            </a:r>
          </a:p>
        </p:txBody>
      </p:sp>
    </p:spTree>
    <p:extLst>
      <p:ext uri="{BB962C8B-B14F-4D97-AF65-F5344CB8AC3E}">
        <p14:creationId xmlns:p14="http://schemas.microsoft.com/office/powerpoint/2010/main" val="59067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A2F4D-0D7B-24C9-B4B5-D3CB663288B5}"/>
              </a:ext>
            </a:extLst>
          </p:cNvPr>
          <p:cNvSpPr>
            <a:spLocks noGrp="1"/>
          </p:cNvSpPr>
          <p:nvPr>
            <p:ph type="title"/>
          </p:nvPr>
        </p:nvSpPr>
        <p:spPr/>
        <p:txBody>
          <a:bodyPr/>
          <a:lstStyle/>
          <a:p>
            <a:r>
              <a:rPr lang="en-US" dirty="0"/>
              <a:t>A note about pod data files and firmware data writing</a:t>
            </a:r>
          </a:p>
        </p:txBody>
      </p:sp>
      <p:sp>
        <p:nvSpPr>
          <p:cNvPr id="3" name="Content Placeholder 2">
            <a:extLst>
              <a:ext uri="{FF2B5EF4-FFF2-40B4-BE49-F238E27FC236}">
                <a16:creationId xmlns:a16="http://schemas.microsoft.com/office/drawing/2014/main" id="{0EA151DB-C9D9-9FCB-BF14-8710A8881E85}"/>
              </a:ext>
            </a:extLst>
          </p:cNvPr>
          <p:cNvSpPr>
            <a:spLocks noGrp="1"/>
          </p:cNvSpPr>
          <p:nvPr>
            <p:ph idx="1"/>
          </p:nvPr>
        </p:nvSpPr>
        <p:spPr/>
        <p:txBody>
          <a:bodyPr/>
          <a:lstStyle/>
          <a:p>
            <a:r>
              <a:rPr lang="en-US" dirty="0"/>
              <a:t>You can have one datetime column, or a date column and a time column that python will automatically combine</a:t>
            </a:r>
          </a:p>
          <a:p>
            <a:pPr lvl="1"/>
            <a:r>
              <a:rPr lang="en-US" dirty="0"/>
              <a:t>Must be called datetime or date and time (if two columns) in the </a:t>
            </a:r>
            <a:r>
              <a:rPr lang="en-US" dirty="0" err="1"/>
              <a:t>column_names</a:t>
            </a:r>
            <a:r>
              <a:rPr lang="en-US" dirty="0"/>
              <a:t> variable</a:t>
            </a:r>
          </a:p>
          <a:p>
            <a:pPr lvl="1"/>
            <a:endParaRPr lang="en-US" dirty="0"/>
          </a:p>
          <a:p>
            <a:r>
              <a:rPr lang="en-US" dirty="0"/>
              <a:t>Right now, the rest of the columns must be numeric. If at some point, we have non-numeric data columns (not sure what this would be), we’ll need to adjust the </a:t>
            </a:r>
            <a:r>
              <a:rPr lang="en-US" dirty="0" err="1"/>
              <a:t>data_load</a:t>
            </a:r>
            <a:r>
              <a:rPr lang="en-US" dirty="0"/>
              <a:t> function</a:t>
            </a:r>
          </a:p>
          <a:p>
            <a:pPr lvl="1"/>
            <a:r>
              <a:rPr lang="en-US" dirty="0"/>
              <a:t>I haven’t spent time on this yet because I do not foresee any non-numeric data needs</a:t>
            </a:r>
          </a:p>
        </p:txBody>
      </p:sp>
    </p:spTree>
    <p:extLst>
      <p:ext uri="{BB962C8B-B14F-4D97-AF65-F5344CB8AC3E}">
        <p14:creationId xmlns:p14="http://schemas.microsoft.com/office/powerpoint/2010/main" val="38872647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F9A24E-116A-F7FE-DA36-B95360A2C3B1}"/>
              </a:ext>
            </a:extLst>
          </p:cNvPr>
          <p:cNvSpPr>
            <a:spLocks noGrp="1"/>
          </p:cNvSpPr>
          <p:nvPr>
            <p:ph type="title"/>
          </p:nvPr>
        </p:nvSpPr>
        <p:spPr/>
        <p:txBody>
          <a:bodyPr/>
          <a:lstStyle/>
          <a:p>
            <a:r>
              <a:rPr lang="en-US" dirty="0" err="1"/>
              <a:t>Python_Functions</a:t>
            </a:r>
            <a:r>
              <a:rPr lang="en-US" dirty="0"/>
              <a:t> folder</a:t>
            </a:r>
          </a:p>
        </p:txBody>
      </p:sp>
      <p:sp>
        <p:nvSpPr>
          <p:cNvPr id="3" name="Content Placeholder 2">
            <a:extLst>
              <a:ext uri="{FF2B5EF4-FFF2-40B4-BE49-F238E27FC236}">
                <a16:creationId xmlns:a16="http://schemas.microsoft.com/office/drawing/2014/main" id="{F86A71F8-23C3-6B6F-2D63-067CCF7EF355}"/>
              </a:ext>
            </a:extLst>
          </p:cNvPr>
          <p:cNvSpPr>
            <a:spLocks noGrp="1"/>
          </p:cNvSpPr>
          <p:nvPr>
            <p:ph idx="1"/>
          </p:nvPr>
        </p:nvSpPr>
        <p:spPr>
          <a:xfrm>
            <a:off x="838200" y="1825625"/>
            <a:ext cx="5664200" cy="4351338"/>
          </a:xfrm>
        </p:spPr>
        <p:txBody>
          <a:bodyPr/>
          <a:lstStyle/>
          <a:p>
            <a:r>
              <a:rPr lang="en-US" dirty="0"/>
              <a:t>This folder contains other functions used in the main functions</a:t>
            </a:r>
          </a:p>
          <a:p>
            <a:r>
              <a:rPr lang="en-US" dirty="0"/>
              <a:t>You must have the _</a:t>
            </a:r>
            <a:r>
              <a:rPr lang="en-US" dirty="0" err="1"/>
              <a:t>pycache</a:t>
            </a:r>
            <a:r>
              <a:rPr lang="en-US" dirty="0"/>
              <a:t>_ folder and __</a:t>
            </a:r>
            <a:r>
              <a:rPr lang="en-US" dirty="0" err="1"/>
              <a:t>init</a:t>
            </a:r>
            <a:r>
              <a:rPr lang="en-US" dirty="0"/>
              <a:t>__ for this to run</a:t>
            </a:r>
          </a:p>
          <a:p>
            <a:r>
              <a:rPr lang="en-US" dirty="0"/>
              <a:t>You can add more functions with each grouping, or create a new file if you want a new category of functions</a:t>
            </a:r>
          </a:p>
        </p:txBody>
      </p:sp>
      <p:pic>
        <p:nvPicPr>
          <p:cNvPr id="5" name="Picture 4">
            <a:extLst>
              <a:ext uri="{FF2B5EF4-FFF2-40B4-BE49-F238E27FC236}">
                <a16:creationId xmlns:a16="http://schemas.microsoft.com/office/drawing/2014/main" id="{EA136644-C0AB-1389-2A2A-00DA528BB319}"/>
              </a:ext>
            </a:extLst>
          </p:cNvPr>
          <p:cNvPicPr>
            <a:picLocks noChangeAspect="1"/>
          </p:cNvPicPr>
          <p:nvPr/>
        </p:nvPicPr>
        <p:blipFill>
          <a:blip r:embed="rId2"/>
          <a:stretch>
            <a:fillRect/>
          </a:stretch>
        </p:blipFill>
        <p:spPr>
          <a:xfrm>
            <a:off x="7920494" y="1825625"/>
            <a:ext cx="2867425" cy="2943636"/>
          </a:xfrm>
          <a:prstGeom prst="rect">
            <a:avLst/>
          </a:prstGeom>
        </p:spPr>
      </p:pic>
    </p:spTree>
    <p:extLst>
      <p:ext uri="{BB962C8B-B14F-4D97-AF65-F5344CB8AC3E}">
        <p14:creationId xmlns:p14="http://schemas.microsoft.com/office/powerpoint/2010/main" val="41344755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A83F1-8B4E-68F7-AC8E-03A2A47F70BF}"/>
              </a:ext>
            </a:extLst>
          </p:cNvPr>
          <p:cNvSpPr>
            <a:spLocks noGrp="1"/>
          </p:cNvSpPr>
          <p:nvPr>
            <p:ph type="title"/>
          </p:nvPr>
        </p:nvSpPr>
        <p:spPr/>
        <p:txBody>
          <a:bodyPr/>
          <a:lstStyle/>
          <a:p>
            <a:r>
              <a:rPr lang="en-US" dirty="0" err="1"/>
              <a:t>Python_Functions</a:t>
            </a:r>
            <a:r>
              <a:rPr lang="en-US" dirty="0"/>
              <a:t> functions</a:t>
            </a:r>
          </a:p>
        </p:txBody>
      </p:sp>
      <p:sp>
        <p:nvSpPr>
          <p:cNvPr id="3" name="Content Placeholder 2">
            <a:extLst>
              <a:ext uri="{FF2B5EF4-FFF2-40B4-BE49-F238E27FC236}">
                <a16:creationId xmlns:a16="http://schemas.microsoft.com/office/drawing/2014/main" id="{C1D42CC5-8048-0693-F20B-D7B48376EEDE}"/>
              </a:ext>
            </a:extLst>
          </p:cNvPr>
          <p:cNvSpPr>
            <a:spLocks noGrp="1"/>
          </p:cNvSpPr>
          <p:nvPr>
            <p:ph idx="1"/>
          </p:nvPr>
        </p:nvSpPr>
        <p:spPr>
          <a:xfrm>
            <a:off x="838200" y="1690688"/>
            <a:ext cx="10515600" cy="4941339"/>
          </a:xfrm>
        </p:spPr>
        <p:txBody>
          <a:bodyPr>
            <a:normAutofit fontScale="85000" lnSpcReduction="20000"/>
          </a:bodyPr>
          <a:lstStyle/>
          <a:p>
            <a:pPr>
              <a:spcBef>
                <a:spcPts val="0"/>
              </a:spcBef>
              <a:spcAft>
                <a:spcPts val="1200"/>
              </a:spcAft>
            </a:pPr>
            <a:r>
              <a:rPr lang="en-US" dirty="0" err="1"/>
              <a:t>data_loading_func</a:t>
            </a:r>
            <a:r>
              <a:rPr lang="en-US" dirty="0"/>
              <a:t> file</a:t>
            </a:r>
          </a:p>
          <a:p>
            <a:pPr lvl="1">
              <a:spcBef>
                <a:spcPts val="0"/>
              </a:spcBef>
              <a:spcAft>
                <a:spcPts val="1200"/>
              </a:spcAft>
            </a:pPr>
            <a:r>
              <a:rPr lang="en-US" dirty="0" err="1"/>
              <a:t>load_deployment_log</a:t>
            </a:r>
            <a:r>
              <a:rPr lang="en-US" dirty="0"/>
              <a:t> loads the deployment log </a:t>
            </a:r>
          </a:p>
          <a:p>
            <a:pPr lvl="1">
              <a:spcBef>
                <a:spcPts val="0"/>
              </a:spcBef>
              <a:spcAft>
                <a:spcPts val="1200"/>
              </a:spcAft>
            </a:pPr>
            <a:r>
              <a:rPr lang="en-US" dirty="0" err="1"/>
              <a:t>load_data</a:t>
            </a:r>
            <a:r>
              <a:rPr lang="en-US" dirty="0"/>
              <a:t> is used to load C, H, and F data, based on the deployment log entries. Load_data also corrects any time zone changes and crops the data based on start and end times in the deployment log (remove warmup happens later in preprocessing)</a:t>
            </a:r>
          </a:p>
          <a:p>
            <a:pPr lvl="2">
              <a:spcBef>
                <a:spcPts val="0"/>
              </a:spcBef>
              <a:spcAft>
                <a:spcPts val="1200"/>
              </a:spcAft>
            </a:pPr>
            <a:r>
              <a:rPr lang="en-US" dirty="0"/>
              <a:t>In this newer version, this is now split into </a:t>
            </a:r>
            <a:r>
              <a:rPr lang="en-US" dirty="0" err="1"/>
              <a:t>onecal_load_data</a:t>
            </a:r>
            <a:r>
              <a:rPr lang="en-US" dirty="0"/>
              <a:t> and </a:t>
            </a:r>
            <a:r>
              <a:rPr lang="en-US" dirty="0" err="1"/>
              <a:t>onehop_load_data</a:t>
            </a:r>
            <a:r>
              <a:rPr lang="en-US" dirty="0"/>
              <a:t> depending on how the data needs to be loaded.</a:t>
            </a:r>
          </a:p>
          <a:p>
            <a:pPr lvl="1">
              <a:spcBef>
                <a:spcPts val="0"/>
              </a:spcBef>
              <a:spcAft>
                <a:spcPts val="1200"/>
              </a:spcAft>
            </a:pPr>
            <a:r>
              <a:rPr lang="en-US" dirty="0" err="1"/>
              <a:t>field_location</a:t>
            </a:r>
            <a:r>
              <a:rPr lang="en-US" dirty="0"/>
              <a:t> groups the field data by location (instead of pod) for plotting and analysis</a:t>
            </a:r>
          </a:p>
          <a:p>
            <a:pPr>
              <a:spcBef>
                <a:spcPts val="0"/>
              </a:spcBef>
              <a:spcAft>
                <a:spcPts val="1200"/>
              </a:spcAft>
            </a:pPr>
            <a:r>
              <a:rPr lang="en-US" dirty="0" err="1"/>
              <a:t>test_train_split</a:t>
            </a:r>
            <a:r>
              <a:rPr lang="en-US" dirty="0"/>
              <a:t> holds functions to split the data into test and train sets</a:t>
            </a:r>
          </a:p>
          <a:p>
            <a:pPr lvl="1">
              <a:spcBef>
                <a:spcPts val="0"/>
              </a:spcBef>
              <a:spcAft>
                <a:spcPts val="1200"/>
              </a:spcAft>
            </a:pPr>
            <a:r>
              <a:rPr lang="en-US" dirty="0" err="1"/>
              <a:t>end_test</a:t>
            </a:r>
            <a:r>
              <a:rPr lang="en-US" dirty="0"/>
              <a:t> puts the last 20% of temporal data into test</a:t>
            </a:r>
          </a:p>
          <a:p>
            <a:pPr lvl="1">
              <a:spcBef>
                <a:spcPts val="0"/>
              </a:spcBef>
              <a:spcAft>
                <a:spcPts val="1200"/>
              </a:spcAft>
            </a:pPr>
            <a:r>
              <a:rPr lang="en-US" dirty="0" err="1"/>
              <a:t>mid_end_split</a:t>
            </a:r>
            <a:r>
              <a:rPr lang="en-US" dirty="0"/>
              <a:t> puts 10% of middle data and 10% of the end data into test</a:t>
            </a:r>
          </a:p>
          <a:p>
            <a:pPr lvl="1">
              <a:spcBef>
                <a:spcPts val="0"/>
              </a:spcBef>
              <a:spcAft>
                <a:spcPts val="1200"/>
              </a:spcAft>
            </a:pPr>
            <a:r>
              <a:rPr lang="en-US" dirty="0" err="1"/>
              <a:t>Start_end_split</a:t>
            </a:r>
            <a:r>
              <a:rPr lang="en-US" dirty="0"/>
              <a:t> puts the first 10% of data and the last 10% of data into test</a:t>
            </a:r>
          </a:p>
          <a:p>
            <a:pPr lvl="1">
              <a:spcBef>
                <a:spcPts val="0"/>
              </a:spcBef>
              <a:spcAft>
                <a:spcPts val="1200"/>
              </a:spcAft>
            </a:pPr>
            <a:r>
              <a:rPr lang="en-US" dirty="0"/>
              <a:t>There are now a LOT more options for </a:t>
            </a:r>
            <a:r>
              <a:rPr lang="en-US" dirty="0" err="1"/>
              <a:t>test_train_split</a:t>
            </a:r>
            <a:r>
              <a:rPr lang="en-US" dirty="0"/>
              <a:t> based on different projects. These can be explored in the code, and new ones can be created following the same format.</a:t>
            </a:r>
          </a:p>
          <a:p>
            <a:pPr lvl="1">
              <a:spcBef>
                <a:spcPts val="0"/>
              </a:spcBef>
              <a:spcAft>
                <a:spcPts val="1200"/>
              </a:spcAft>
            </a:pPr>
            <a:endParaRPr lang="en-US" dirty="0"/>
          </a:p>
          <a:p>
            <a:pPr>
              <a:spcBef>
                <a:spcPts val="0"/>
              </a:spcBef>
              <a:spcAft>
                <a:spcPts val="1200"/>
              </a:spcAft>
            </a:pPr>
            <a:endParaRPr lang="en-US" dirty="0"/>
          </a:p>
          <a:p>
            <a:endParaRPr lang="en-US" dirty="0"/>
          </a:p>
        </p:txBody>
      </p:sp>
    </p:spTree>
    <p:extLst>
      <p:ext uri="{BB962C8B-B14F-4D97-AF65-F5344CB8AC3E}">
        <p14:creationId xmlns:p14="http://schemas.microsoft.com/office/powerpoint/2010/main" val="33920912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A83F1-8B4E-68F7-AC8E-03A2A47F70BF}"/>
              </a:ext>
            </a:extLst>
          </p:cNvPr>
          <p:cNvSpPr>
            <a:spLocks noGrp="1"/>
          </p:cNvSpPr>
          <p:nvPr>
            <p:ph type="title"/>
          </p:nvPr>
        </p:nvSpPr>
        <p:spPr/>
        <p:txBody>
          <a:bodyPr/>
          <a:lstStyle/>
          <a:p>
            <a:r>
              <a:rPr lang="en-US" dirty="0" err="1"/>
              <a:t>Python_Functions</a:t>
            </a:r>
            <a:r>
              <a:rPr lang="en-US" dirty="0"/>
              <a:t> functions</a:t>
            </a:r>
          </a:p>
        </p:txBody>
      </p:sp>
      <p:sp>
        <p:nvSpPr>
          <p:cNvPr id="3" name="Content Placeholder 2">
            <a:extLst>
              <a:ext uri="{FF2B5EF4-FFF2-40B4-BE49-F238E27FC236}">
                <a16:creationId xmlns:a16="http://schemas.microsoft.com/office/drawing/2014/main" id="{C1D42CC5-8048-0693-F20B-D7B48376EEDE}"/>
              </a:ext>
            </a:extLst>
          </p:cNvPr>
          <p:cNvSpPr>
            <a:spLocks noGrp="1"/>
          </p:cNvSpPr>
          <p:nvPr>
            <p:ph idx="1"/>
          </p:nvPr>
        </p:nvSpPr>
        <p:spPr>
          <a:xfrm>
            <a:off x="838199" y="1825625"/>
            <a:ext cx="11027485" cy="4774872"/>
          </a:xfrm>
        </p:spPr>
        <p:txBody>
          <a:bodyPr>
            <a:normAutofit lnSpcReduction="10000"/>
          </a:bodyPr>
          <a:lstStyle/>
          <a:p>
            <a:pPr>
              <a:spcAft>
                <a:spcPts val="600"/>
              </a:spcAft>
            </a:pPr>
            <a:r>
              <a:rPr lang="en-US" dirty="0" err="1"/>
              <a:t>preprocessing_func</a:t>
            </a:r>
            <a:r>
              <a:rPr lang="en-US" dirty="0"/>
              <a:t> contains data preprocessing functions</a:t>
            </a:r>
          </a:p>
          <a:p>
            <a:pPr lvl="1">
              <a:spcAft>
                <a:spcPts val="600"/>
              </a:spcAft>
            </a:pPr>
            <a:r>
              <a:rPr lang="en-US" dirty="0" err="1"/>
              <a:t>add_time_elapsed</a:t>
            </a:r>
            <a:r>
              <a:rPr lang="en-US" dirty="0"/>
              <a:t> creates a column that is the number of seconds that have passed since the earliest time listed in “start” in the deployment log. This is helpful for accounting for sensor drift!</a:t>
            </a:r>
          </a:p>
          <a:p>
            <a:pPr lvl="1">
              <a:spcAft>
                <a:spcPts val="600"/>
              </a:spcAft>
            </a:pPr>
            <a:r>
              <a:rPr lang="en-US" dirty="0"/>
              <a:t>Fig2600_2602_ratio adds a column that is the ratio of Fig 2600 to Fig 2602 (maybe helpful for VOC)</a:t>
            </a:r>
          </a:p>
          <a:p>
            <a:pPr lvl="1">
              <a:spcAft>
                <a:spcPts val="600"/>
              </a:spcAft>
            </a:pPr>
            <a:r>
              <a:rPr lang="en-US" dirty="0">
                <a:solidFill>
                  <a:srgbClr val="FF0000"/>
                </a:solidFill>
              </a:rPr>
              <a:t>hum_rel_2_abs converts humidity from relative to absolute. THIS IS NOT WORKING WITH NEWER PYTHON VERSIONS AND I HAVEN’T FIXED IT YET</a:t>
            </a:r>
          </a:p>
          <a:p>
            <a:pPr lvl="1">
              <a:spcAft>
                <a:spcPts val="600"/>
              </a:spcAft>
            </a:pPr>
            <a:r>
              <a:rPr lang="en-US" dirty="0" err="1"/>
              <a:t>interaction_terms</a:t>
            </a:r>
            <a:r>
              <a:rPr lang="en-US" dirty="0"/>
              <a:t> multiplies each sensor combo</a:t>
            </a:r>
          </a:p>
          <a:p>
            <a:pPr lvl="2">
              <a:spcAft>
                <a:spcPts val="600"/>
              </a:spcAft>
            </a:pPr>
            <a:r>
              <a:rPr lang="en-US" dirty="0"/>
              <a:t> so with CO, temp, humid sensors, you’ll add CO*temp, CO*humid, and temp*humid columns</a:t>
            </a:r>
          </a:p>
          <a:p>
            <a:pPr lvl="1">
              <a:spcAft>
                <a:spcPts val="600"/>
              </a:spcAft>
            </a:pPr>
            <a:r>
              <a:rPr lang="en-US" dirty="0"/>
              <a:t>rmv4thofJuly removes July 4</a:t>
            </a:r>
            <a:r>
              <a:rPr lang="en-US" baseline="30000" dirty="0"/>
              <a:t>th</a:t>
            </a:r>
            <a:r>
              <a:rPr lang="en-US" dirty="0"/>
              <a:t> and 5</a:t>
            </a:r>
            <a:r>
              <a:rPr lang="en-US" baseline="30000" dirty="0"/>
              <a:t>th</a:t>
            </a:r>
            <a:r>
              <a:rPr lang="en-US" dirty="0"/>
              <a:t>, which can be helpful for PM calibration to remove huge spikes related to fireworks (not always needed though)</a:t>
            </a:r>
          </a:p>
        </p:txBody>
      </p:sp>
    </p:spTree>
    <p:extLst>
      <p:ext uri="{BB962C8B-B14F-4D97-AF65-F5344CB8AC3E}">
        <p14:creationId xmlns:p14="http://schemas.microsoft.com/office/powerpoint/2010/main" val="60562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A83F1-8B4E-68F7-AC8E-03A2A47F70BF}"/>
              </a:ext>
            </a:extLst>
          </p:cNvPr>
          <p:cNvSpPr>
            <a:spLocks noGrp="1"/>
          </p:cNvSpPr>
          <p:nvPr>
            <p:ph type="title"/>
          </p:nvPr>
        </p:nvSpPr>
        <p:spPr/>
        <p:txBody>
          <a:bodyPr/>
          <a:lstStyle/>
          <a:p>
            <a:r>
              <a:rPr lang="en-US" dirty="0" err="1"/>
              <a:t>Python_Functions</a:t>
            </a:r>
            <a:r>
              <a:rPr lang="en-US" dirty="0"/>
              <a:t> functions</a:t>
            </a:r>
          </a:p>
        </p:txBody>
      </p:sp>
      <p:sp>
        <p:nvSpPr>
          <p:cNvPr id="3" name="Content Placeholder 2">
            <a:extLst>
              <a:ext uri="{FF2B5EF4-FFF2-40B4-BE49-F238E27FC236}">
                <a16:creationId xmlns:a16="http://schemas.microsoft.com/office/drawing/2014/main" id="{C1D42CC5-8048-0693-F20B-D7B48376EEDE}"/>
              </a:ext>
            </a:extLst>
          </p:cNvPr>
          <p:cNvSpPr>
            <a:spLocks noGrp="1"/>
          </p:cNvSpPr>
          <p:nvPr>
            <p:ph idx="1"/>
          </p:nvPr>
        </p:nvSpPr>
        <p:spPr>
          <a:xfrm>
            <a:off x="838199" y="1825624"/>
            <a:ext cx="10515599" cy="4803775"/>
          </a:xfrm>
        </p:spPr>
        <p:txBody>
          <a:bodyPr>
            <a:normAutofit lnSpcReduction="10000"/>
          </a:bodyPr>
          <a:lstStyle/>
          <a:p>
            <a:r>
              <a:rPr lang="en-US" dirty="0" err="1"/>
              <a:t>preprocessing_func</a:t>
            </a:r>
            <a:r>
              <a:rPr lang="en-US" dirty="0"/>
              <a:t> contains data preprocessing functions</a:t>
            </a:r>
          </a:p>
          <a:p>
            <a:pPr lvl="1"/>
            <a:r>
              <a:rPr lang="en-US" dirty="0" err="1"/>
              <a:t>rmv_warmup</a:t>
            </a:r>
            <a:r>
              <a:rPr lang="en-US" dirty="0"/>
              <a:t> removes the first warm-up period in the data, as well as a warm-up period after each time the pod turns off</a:t>
            </a:r>
          </a:p>
          <a:p>
            <a:pPr lvl="2"/>
            <a:r>
              <a:rPr lang="en-US" dirty="0"/>
              <a:t>User specifies the warm-up period in the settings</a:t>
            </a:r>
          </a:p>
          <a:p>
            <a:pPr lvl="2"/>
            <a:r>
              <a:rPr lang="en-US" dirty="0"/>
              <a:t>Python assumes the pod turned off each time the gap between two samples is more than 10 times longer than the average time gap between samples</a:t>
            </a:r>
          </a:p>
          <a:p>
            <a:pPr lvl="1"/>
            <a:r>
              <a:rPr lang="en-US" dirty="0"/>
              <a:t>temp_C_2_K converts the temperature from Celsius to Kelvin</a:t>
            </a:r>
          </a:p>
          <a:p>
            <a:pPr lvl="1"/>
            <a:r>
              <a:rPr lang="en-US" dirty="0"/>
              <a:t>See notes on “data weighting” slide for </a:t>
            </a:r>
            <a:r>
              <a:rPr lang="en-US" dirty="0" err="1"/>
              <a:t>binned_resample</a:t>
            </a:r>
            <a:r>
              <a:rPr lang="en-US" dirty="0"/>
              <a:t> and </a:t>
            </a:r>
            <a:r>
              <a:rPr lang="en-US" dirty="0" err="1"/>
              <a:t>resample_quartile</a:t>
            </a:r>
            <a:r>
              <a:rPr lang="en-US" dirty="0"/>
              <a:t> functions</a:t>
            </a:r>
          </a:p>
          <a:p>
            <a:pPr lvl="1"/>
            <a:r>
              <a:rPr lang="en-US" dirty="0" err="1"/>
              <a:t>preprocessing_func</a:t>
            </a:r>
            <a:r>
              <a:rPr lang="en-US" dirty="0"/>
              <a:t> contains the function calls of some of the preprocessing steps. This just keeps the main code a little cleaner. </a:t>
            </a:r>
          </a:p>
          <a:p>
            <a:pPr lvl="2"/>
            <a:r>
              <a:rPr lang="en-US" dirty="0"/>
              <a:t>Not all of the preprocessing steps can be included here because some have to happen after the data has been time averaged. Those are called specifically in the main code in that case</a:t>
            </a:r>
          </a:p>
          <a:p>
            <a:pPr lvl="1"/>
            <a:endParaRPr lang="en-US" dirty="0"/>
          </a:p>
        </p:txBody>
      </p:sp>
    </p:spTree>
    <p:extLst>
      <p:ext uri="{BB962C8B-B14F-4D97-AF65-F5344CB8AC3E}">
        <p14:creationId xmlns:p14="http://schemas.microsoft.com/office/powerpoint/2010/main" val="11777984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A83F1-8B4E-68F7-AC8E-03A2A47F70BF}"/>
              </a:ext>
            </a:extLst>
          </p:cNvPr>
          <p:cNvSpPr>
            <a:spLocks noGrp="1"/>
          </p:cNvSpPr>
          <p:nvPr>
            <p:ph type="title"/>
          </p:nvPr>
        </p:nvSpPr>
        <p:spPr/>
        <p:txBody>
          <a:bodyPr/>
          <a:lstStyle/>
          <a:p>
            <a:r>
              <a:rPr lang="en-US" dirty="0" err="1"/>
              <a:t>Python_Functions</a:t>
            </a:r>
            <a:r>
              <a:rPr lang="en-US" dirty="0"/>
              <a:t> functions</a:t>
            </a:r>
          </a:p>
        </p:txBody>
      </p:sp>
      <p:sp>
        <p:nvSpPr>
          <p:cNvPr id="3" name="Content Placeholder 2">
            <a:extLst>
              <a:ext uri="{FF2B5EF4-FFF2-40B4-BE49-F238E27FC236}">
                <a16:creationId xmlns:a16="http://schemas.microsoft.com/office/drawing/2014/main" id="{C1D42CC5-8048-0693-F20B-D7B48376EEDE}"/>
              </a:ext>
            </a:extLst>
          </p:cNvPr>
          <p:cNvSpPr>
            <a:spLocks noGrp="1"/>
          </p:cNvSpPr>
          <p:nvPr>
            <p:ph idx="1"/>
          </p:nvPr>
        </p:nvSpPr>
        <p:spPr>
          <a:xfrm>
            <a:off x="838199" y="1690688"/>
            <a:ext cx="11089341" cy="5032375"/>
          </a:xfrm>
        </p:spPr>
        <p:txBody>
          <a:bodyPr>
            <a:normAutofit fontScale="92500" lnSpcReduction="10000"/>
          </a:bodyPr>
          <a:lstStyle/>
          <a:p>
            <a:r>
              <a:rPr lang="en-US" dirty="0" err="1"/>
              <a:t>colo_model_func</a:t>
            </a:r>
            <a:r>
              <a:rPr lang="en-US" dirty="0"/>
              <a:t> contains the models that can be used for the colocation pod to reference calibration</a:t>
            </a:r>
          </a:p>
          <a:p>
            <a:pPr lvl="1"/>
            <a:r>
              <a:rPr lang="en-US" dirty="0" err="1"/>
              <a:t>lin_reg</a:t>
            </a:r>
            <a:r>
              <a:rPr lang="en-US" dirty="0"/>
              <a:t> is a multi linear regression</a:t>
            </a:r>
          </a:p>
          <a:p>
            <a:pPr lvl="1"/>
            <a:r>
              <a:rPr lang="en-US" dirty="0"/>
              <a:t>ridge and lasso are regressions with “regularization” to minimize overfitting</a:t>
            </a:r>
          </a:p>
          <a:p>
            <a:pPr lvl="1"/>
            <a:r>
              <a:rPr lang="en-US" dirty="0" err="1"/>
              <a:t>random_forest</a:t>
            </a:r>
            <a:r>
              <a:rPr lang="en-US" dirty="0"/>
              <a:t>, </a:t>
            </a:r>
            <a:r>
              <a:rPr lang="en-US" dirty="0" err="1"/>
              <a:t>gradboost</a:t>
            </a:r>
            <a:r>
              <a:rPr lang="en-US" dirty="0"/>
              <a:t>, </a:t>
            </a:r>
            <a:r>
              <a:rPr lang="en-US" dirty="0" err="1"/>
              <a:t>xg_boost</a:t>
            </a:r>
            <a:r>
              <a:rPr lang="en-US" dirty="0"/>
              <a:t> are boosting models</a:t>
            </a:r>
          </a:p>
          <a:p>
            <a:pPr lvl="2"/>
            <a:r>
              <a:rPr lang="en-US" dirty="0" err="1"/>
              <a:t>Adaboost</a:t>
            </a:r>
            <a:r>
              <a:rPr lang="en-US" dirty="0"/>
              <a:t> is also in the file but doesn’t work very well (it’s more meant for classification models)</a:t>
            </a:r>
          </a:p>
          <a:p>
            <a:pPr lvl="1"/>
            <a:r>
              <a:rPr lang="en-US" dirty="0"/>
              <a:t>Ann is an artificial neural network model</a:t>
            </a:r>
          </a:p>
          <a:p>
            <a:pPr lvl="1"/>
            <a:r>
              <a:rPr lang="en-US" dirty="0"/>
              <a:t>SVR is a support vector regression model</a:t>
            </a:r>
          </a:p>
          <a:p>
            <a:pPr lvl="1"/>
            <a:r>
              <a:rPr lang="en-US" dirty="0"/>
              <a:t>See note on “data weighting” slide about </a:t>
            </a:r>
            <a:r>
              <a:rPr lang="en-US" dirty="0" err="1"/>
              <a:t>sigweight</a:t>
            </a:r>
            <a:r>
              <a:rPr lang="en-US" dirty="0"/>
              <a:t> and SMOTER models</a:t>
            </a:r>
          </a:p>
          <a:p>
            <a:pPr lvl="1"/>
            <a:endParaRPr lang="en-US" dirty="0"/>
          </a:p>
          <a:p>
            <a:r>
              <a:rPr lang="en-US" dirty="0"/>
              <a:t>Models with hyperparameters are tuned using 5-fold cross validation</a:t>
            </a:r>
          </a:p>
          <a:p>
            <a:pPr lvl="1"/>
            <a:r>
              <a:rPr lang="en-US" dirty="0"/>
              <a:t>What that means: hyperparameters are parameters you pre-set for the model, such as the max depth in a random forest. “Tuning” is when these hyperparameters are optimized to build the best possible model for the data</a:t>
            </a:r>
          </a:p>
        </p:txBody>
      </p:sp>
    </p:spTree>
    <p:extLst>
      <p:ext uri="{BB962C8B-B14F-4D97-AF65-F5344CB8AC3E}">
        <p14:creationId xmlns:p14="http://schemas.microsoft.com/office/powerpoint/2010/main" val="34592741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44885-A97C-7E68-F4A2-83DA2C3AF6BA}"/>
              </a:ext>
            </a:extLst>
          </p:cNvPr>
          <p:cNvSpPr>
            <a:spLocks noGrp="1"/>
          </p:cNvSpPr>
          <p:nvPr>
            <p:ph type="title"/>
          </p:nvPr>
        </p:nvSpPr>
        <p:spPr/>
        <p:txBody>
          <a:bodyPr/>
          <a:lstStyle/>
          <a:p>
            <a:r>
              <a:rPr lang="en-US" dirty="0"/>
              <a:t>Balancing the dataset (usually for peak fitting)</a:t>
            </a:r>
          </a:p>
        </p:txBody>
      </p:sp>
      <p:sp>
        <p:nvSpPr>
          <p:cNvPr id="3" name="Content Placeholder 2">
            <a:extLst>
              <a:ext uri="{FF2B5EF4-FFF2-40B4-BE49-F238E27FC236}">
                <a16:creationId xmlns:a16="http://schemas.microsoft.com/office/drawing/2014/main" id="{93EAAF71-55C0-1AE5-7FC6-0BE3007A3EF5}"/>
              </a:ext>
            </a:extLst>
          </p:cNvPr>
          <p:cNvSpPr>
            <a:spLocks noGrp="1"/>
          </p:cNvSpPr>
          <p:nvPr>
            <p:ph idx="1"/>
          </p:nvPr>
        </p:nvSpPr>
        <p:spPr>
          <a:xfrm>
            <a:off x="268941" y="1690688"/>
            <a:ext cx="11923059" cy="5274887"/>
          </a:xfrm>
        </p:spPr>
        <p:txBody>
          <a:bodyPr>
            <a:normAutofit fontScale="85000" lnSpcReduction="20000"/>
          </a:bodyPr>
          <a:lstStyle/>
          <a:p>
            <a:r>
              <a:rPr lang="en-US" dirty="0"/>
              <a:t>There are a few different options for trying to balance out an imbalanced dataset (usually for the goal of getting the model to fit peaks better). I haven’t used these extensively because I found they led to overfitting, but I left them in for others to explore</a:t>
            </a:r>
          </a:p>
          <a:p>
            <a:r>
              <a:rPr lang="en-US" dirty="0"/>
              <a:t>Within </a:t>
            </a:r>
            <a:r>
              <a:rPr lang="en-US" dirty="0" err="1"/>
              <a:t>preprocessing_func</a:t>
            </a:r>
            <a:r>
              <a:rPr lang="en-US" dirty="0"/>
              <a:t> (to are implemented by adding to settings[‘preprocess’]):</a:t>
            </a:r>
          </a:p>
          <a:p>
            <a:pPr lvl="1"/>
            <a:r>
              <a:rPr lang="en-US" dirty="0" err="1"/>
              <a:t>binned_resample</a:t>
            </a:r>
            <a:r>
              <a:rPr lang="en-US" dirty="0"/>
              <a:t>:  resample the data so that there are the same number of data points per "bin" (number of bins set with settings['</a:t>
            </a:r>
            <a:r>
              <a:rPr lang="en-US" dirty="0" err="1"/>
              <a:t>n_bins</a:t>
            </a:r>
            <a:r>
              <a:rPr lang="en-US" dirty="0"/>
              <a:t>’])</a:t>
            </a:r>
          </a:p>
          <a:p>
            <a:pPr lvl="1"/>
            <a:r>
              <a:rPr lang="en-US" dirty="0" err="1"/>
              <a:t>resample_quartile</a:t>
            </a:r>
            <a:r>
              <a:rPr lang="en-US" dirty="0"/>
              <a:t>: removes a percentage of values from the reference data in the quartile listed in settings['</a:t>
            </a:r>
            <a:r>
              <a:rPr lang="en-US" dirty="0" err="1"/>
              <a:t>quartiles_to_resample</a:t>
            </a:r>
            <a:r>
              <a:rPr lang="en-US" dirty="0"/>
              <a:t>'] (percentage based on settings['</a:t>
            </a:r>
            <a:r>
              <a:rPr lang="en-US" dirty="0" err="1"/>
              <a:t>quartiles_downsampling_rate</a:t>
            </a:r>
            <a:r>
              <a:rPr lang="en-US" dirty="0"/>
              <a:t>’] )</a:t>
            </a:r>
          </a:p>
          <a:p>
            <a:pPr lvl="1"/>
            <a:endParaRPr lang="en-US" dirty="0"/>
          </a:p>
          <a:p>
            <a:r>
              <a:rPr lang="en-US" dirty="0"/>
              <a:t>For both options, you need to set additional settings in the </a:t>
            </a:r>
            <a:r>
              <a:rPr lang="en-US" dirty="0" err="1"/>
              <a:t>MPC_colocation</a:t>
            </a:r>
            <a:r>
              <a:rPr lang="en-US" dirty="0"/>
              <a:t> or </a:t>
            </a:r>
            <a:r>
              <a:rPr lang="en-US" dirty="0" err="1"/>
              <a:t>MPC_onecal</a:t>
            </a:r>
            <a:r>
              <a:rPr lang="en-US" dirty="0"/>
              <a:t> files:</a:t>
            </a:r>
          </a:p>
          <a:p>
            <a:pPr lvl="1"/>
            <a:r>
              <a:rPr lang="en-US" dirty="0"/>
              <a:t>settings['</a:t>
            </a:r>
            <a:r>
              <a:rPr lang="en-US" dirty="0" err="1"/>
              <a:t>quartiles_to_resample</a:t>
            </a:r>
            <a:r>
              <a:rPr lang="en-US" dirty="0"/>
              <a:t>'] = ['first']   ##which quantiles you want to </a:t>
            </a:r>
            <a:r>
              <a:rPr lang="en-US" dirty="0" err="1"/>
              <a:t>downsample</a:t>
            </a:r>
            <a:r>
              <a:rPr lang="en-US" dirty="0"/>
              <a:t> from if applying '</a:t>
            </a:r>
            <a:r>
              <a:rPr lang="en-US" dirty="0" err="1"/>
              <a:t>resample_quartile</a:t>
            </a:r>
            <a:r>
              <a:rPr lang="en-US" dirty="0"/>
              <a:t>' in 'preprocess</a:t>
            </a:r>
          </a:p>
          <a:p>
            <a:pPr lvl="1"/>
            <a:r>
              <a:rPr lang="en-US" dirty="0"/>
              <a:t>settings['</a:t>
            </a:r>
            <a:r>
              <a:rPr lang="en-US" dirty="0" err="1"/>
              <a:t>quartiles_downsampling_rate</a:t>
            </a:r>
            <a:r>
              <a:rPr lang="en-US" dirty="0"/>
              <a:t>'] = 0.5   ## If using '</a:t>
            </a:r>
            <a:r>
              <a:rPr lang="en-US" dirty="0" err="1"/>
              <a:t>resample_quartile</a:t>
            </a:r>
            <a:r>
              <a:rPr lang="en-US" dirty="0"/>
              <a:t>', choose a </a:t>
            </a:r>
            <a:r>
              <a:rPr lang="en-US" dirty="0" err="1"/>
              <a:t>downsampling</a:t>
            </a:r>
            <a:r>
              <a:rPr lang="en-US" dirty="0"/>
              <a:t> rate between 0-1 (e.g., keeping 70% of instances within the lower quartile)</a:t>
            </a:r>
          </a:p>
          <a:p>
            <a:pPr lvl="1"/>
            <a:r>
              <a:rPr lang="en-US" dirty="0"/>
              <a:t>settings['</a:t>
            </a:r>
            <a:r>
              <a:rPr lang="en-US" dirty="0" err="1"/>
              <a:t>n_bins</a:t>
            </a:r>
            <a:r>
              <a:rPr lang="en-US" dirty="0"/>
              <a:t>']= 5   ## If using </a:t>
            </a:r>
            <a:r>
              <a:rPr lang="en-US" dirty="0" err="1"/>
              <a:t>binned_resample</a:t>
            </a:r>
            <a:r>
              <a:rPr lang="en-US" dirty="0"/>
              <a:t>, choose how many bins to split the data into.</a:t>
            </a:r>
          </a:p>
          <a:p>
            <a:pPr lvl="1"/>
            <a:r>
              <a:rPr lang="en-US" dirty="0"/>
              <a:t>settings['</a:t>
            </a:r>
            <a:r>
              <a:rPr lang="en-US" dirty="0" err="1"/>
              <a:t>binned_resample_binnum_multiplier</a:t>
            </a:r>
            <a:r>
              <a:rPr lang="en-US" dirty="0"/>
              <a:t>'] = 2  #The number of samples per bin after resampling is set as 1/</a:t>
            </a:r>
            <a:r>
              <a:rPr lang="en-US" dirty="0" err="1"/>
              <a:t>n_bins</a:t>
            </a:r>
            <a:r>
              <a:rPr lang="en-US" dirty="0"/>
              <a:t>. However, this can be adjusted by </a:t>
            </a:r>
            <a:r>
              <a:rPr lang="en-US" dirty="0" err="1"/>
              <a:t>mulitiplying</a:t>
            </a:r>
            <a:r>
              <a:rPr lang="en-US" dirty="0"/>
              <a:t> 1/n by '</a:t>
            </a:r>
            <a:r>
              <a:rPr lang="en-US" dirty="0" err="1"/>
              <a:t>binned_resample_binnum_multiplier</a:t>
            </a:r>
            <a:r>
              <a:rPr lang="en-US" dirty="0"/>
              <a:t>' if you don't want to remove so much data</a:t>
            </a:r>
          </a:p>
          <a:p>
            <a:pPr lvl="1"/>
            <a:endParaRPr lang="en-US" dirty="0"/>
          </a:p>
        </p:txBody>
      </p:sp>
    </p:spTree>
    <p:extLst>
      <p:ext uri="{BB962C8B-B14F-4D97-AF65-F5344CB8AC3E}">
        <p14:creationId xmlns:p14="http://schemas.microsoft.com/office/powerpoint/2010/main" val="13316146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3A48E-A50C-7F97-B606-673B116A9E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009D44-77D7-7A48-9A6D-E845D77E3717}"/>
              </a:ext>
            </a:extLst>
          </p:cNvPr>
          <p:cNvSpPr>
            <a:spLocks noGrp="1"/>
          </p:cNvSpPr>
          <p:nvPr>
            <p:ph type="title"/>
          </p:nvPr>
        </p:nvSpPr>
        <p:spPr/>
        <p:txBody>
          <a:bodyPr/>
          <a:lstStyle/>
          <a:p>
            <a:r>
              <a:rPr lang="en-US" dirty="0"/>
              <a:t>Data weighting</a:t>
            </a:r>
          </a:p>
        </p:txBody>
      </p:sp>
      <p:sp>
        <p:nvSpPr>
          <p:cNvPr id="3" name="Content Placeholder 2">
            <a:extLst>
              <a:ext uri="{FF2B5EF4-FFF2-40B4-BE49-F238E27FC236}">
                <a16:creationId xmlns:a16="http://schemas.microsoft.com/office/drawing/2014/main" id="{4E912AA2-1A01-25BD-BA54-72719288110A}"/>
              </a:ext>
            </a:extLst>
          </p:cNvPr>
          <p:cNvSpPr>
            <a:spLocks noGrp="1"/>
          </p:cNvSpPr>
          <p:nvPr>
            <p:ph idx="1"/>
          </p:nvPr>
        </p:nvSpPr>
        <p:spPr>
          <a:xfrm>
            <a:off x="838200" y="1825624"/>
            <a:ext cx="11353800" cy="5139951"/>
          </a:xfrm>
        </p:spPr>
        <p:txBody>
          <a:bodyPr>
            <a:normAutofit/>
          </a:bodyPr>
          <a:lstStyle/>
          <a:p>
            <a:pPr lvl="1"/>
            <a:r>
              <a:rPr lang="en-US" dirty="0"/>
              <a:t>Jon Silberstein and I implemented data weighting in some models, which increases the “cost” for fitting certain values (usually the peaks), so that the models prioritize fitting these values.</a:t>
            </a:r>
          </a:p>
          <a:p>
            <a:pPr lvl="1"/>
            <a:r>
              <a:rPr lang="en-US" dirty="0"/>
              <a:t>See </a:t>
            </a:r>
            <a:r>
              <a:rPr lang="en-US" dirty="0">
                <a:hlinkClick r:id="rId2"/>
              </a:rPr>
              <a:t>https://amt.copernicus.org/articles/18/3147/2025/</a:t>
            </a:r>
            <a:r>
              <a:rPr lang="en-US" dirty="0"/>
              <a:t> for more information</a:t>
            </a:r>
          </a:p>
          <a:p>
            <a:pPr lvl="1"/>
            <a:r>
              <a:rPr lang="en-US" dirty="0"/>
              <a:t>Option 1: In the settings[‘model’] list, add ONLY </a:t>
            </a:r>
            <a:r>
              <a:rPr lang="en-US" dirty="0" err="1"/>
              <a:t>rf_pieceweight</a:t>
            </a:r>
            <a:r>
              <a:rPr lang="en-US" dirty="0"/>
              <a:t>, </a:t>
            </a:r>
            <a:r>
              <a:rPr lang="en-US" dirty="0" err="1"/>
              <a:t>lin_reg_pieceweight</a:t>
            </a:r>
            <a:r>
              <a:rPr lang="en-US" dirty="0"/>
              <a:t>, or </a:t>
            </a:r>
            <a:r>
              <a:rPr lang="en-US" dirty="0" err="1"/>
              <a:t>xgb_pieceweight</a:t>
            </a:r>
            <a:r>
              <a:rPr lang="en-US" dirty="0"/>
              <a:t> (depending on if you want random forest (rf), linear regression (</a:t>
            </a:r>
            <a:r>
              <a:rPr lang="en-US" dirty="0" err="1"/>
              <a:t>lin_reg</a:t>
            </a:r>
            <a:r>
              <a:rPr lang="en-US" dirty="0"/>
              <a:t>), or extreme gradient boosting (</a:t>
            </a:r>
            <a:r>
              <a:rPr lang="en-US" dirty="0" err="1"/>
              <a:t>xgb</a:t>
            </a:r>
            <a:r>
              <a:rPr lang="en-US" dirty="0"/>
              <a:t>)). This will create models using the </a:t>
            </a:r>
            <a:r>
              <a:rPr lang="en-US" dirty="0" err="1"/>
              <a:t>pieceweight</a:t>
            </a:r>
            <a:r>
              <a:rPr lang="en-US" dirty="0"/>
              <a:t> weighting scheme described in the paper linked above</a:t>
            </a:r>
          </a:p>
          <a:p>
            <a:pPr lvl="2"/>
            <a:r>
              <a:rPr lang="en-US" dirty="0"/>
              <a:t>You can only run one at a time</a:t>
            </a:r>
          </a:p>
          <a:p>
            <a:pPr lvl="2"/>
            <a:r>
              <a:rPr lang="en-US" dirty="0"/>
              <a:t>You need to set the two settings listed below for these models. See paper for more info</a:t>
            </a:r>
          </a:p>
          <a:p>
            <a:pPr lvl="3"/>
            <a:r>
              <a:rPr lang="en-US" dirty="0"/>
              <a:t>settings['</a:t>
            </a:r>
            <a:r>
              <a:rPr lang="en-US" dirty="0" err="1"/>
              <a:t>weighting_percentile</a:t>
            </a:r>
            <a:r>
              <a:rPr lang="en-US" dirty="0"/>
              <a:t>'] = [75, 85, 95, 99, 99.5, 99.9] #list which percentiles to test for weighting. All data points in that percentile or higher will be weighted higher than those below.</a:t>
            </a:r>
          </a:p>
          <a:p>
            <a:pPr lvl="3"/>
            <a:r>
              <a:rPr lang="en-US" dirty="0"/>
              <a:t>settings['</a:t>
            </a:r>
            <a:r>
              <a:rPr lang="en-US" dirty="0" err="1"/>
              <a:t>weighting_weight</a:t>
            </a:r>
            <a:r>
              <a:rPr lang="en-US" dirty="0"/>
              <a:t>'] = [0.1] #list what weights to test for a weighted model. All points above the percentile will be given this weight. Those below the percentile will </a:t>
            </a:r>
            <a:r>
              <a:rPr lang="en-US" dirty="0" err="1"/>
              <a:t>ahve</a:t>
            </a:r>
            <a:r>
              <a:rPr lang="en-US" dirty="0"/>
              <a:t> a weight of 1.</a:t>
            </a:r>
            <a:br>
              <a:rPr lang="en-US" dirty="0"/>
            </a:br>
            <a:endParaRPr lang="en-US" dirty="0"/>
          </a:p>
          <a:p>
            <a:pPr lvl="2"/>
            <a:endParaRPr lang="en-US" dirty="0"/>
          </a:p>
        </p:txBody>
      </p:sp>
    </p:spTree>
    <p:extLst>
      <p:ext uri="{BB962C8B-B14F-4D97-AF65-F5344CB8AC3E}">
        <p14:creationId xmlns:p14="http://schemas.microsoft.com/office/powerpoint/2010/main" val="33052425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58017-1524-4F77-DE92-CA72E747F179}"/>
              </a:ext>
            </a:extLst>
          </p:cNvPr>
          <p:cNvSpPr>
            <a:spLocks noGrp="1"/>
          </p:cNvSpPr>
          <p:nvPr>
            <p:ph type="title"/>
          </p:nvPr>
        </p:nvSpPr>
        <p:spPr/>
        <p:txBody>
          <a:bodyPr/>
          <a:lstStyle/>
          <a:p>
            <a:r>
              <a:rPr lang="en-US" dirty="0"/>
              <a:t>Data weighting </a:t>
            </a:r>
          </a:p>
        </p:txBody>
      </p:sp>
      <p:sp>
        <p:nvSpPr>
          <p:cNvPr id="3" name="Content Placeholder 2">
            <a:extLst>
              <a:ext uri="{FF2B5EF4-FFF2-40B4-BE49-F238E27FC236}">
                <a16:creationId xmlns:a16="http://schemas.microsoft.com/office/drawing/2014/main" id="{D053018D-C76E-115A-954E-08BA511A0E3D}"/>
              </a:ext>
            </a:extLst>
          </p:cNvPr>
          <p:cNvSpPr>
            <a:spLocks noGrp="1"/>
          </p:cNvSpPr>
          <p:nvPr>
            <p:ph idx="1"/>
          </p:nvPr>
        </p:nvSpPr>
        <p:spPr/>
        <p:txBody>
          <a:bodyPr/>
          <a:lstStyle/>
          <a:p>
            <a:r>
              <a:rPr lang="en-US" dirty="0"/>
              <a:t>Option 2: There are models listed within </a:t>
            </a:r>
            <a:r>
              <a:rPr lang="en-US" dirty="0" err="1"/>
              <a:t>colo_model_func</a:t>
            </a:r>
            <a:r>
              <a:rPr lang="en-US" dirty="0"/>
              <a:t> with the following name format: {</a:t>
            </a:r>
            <a:r>
              <a:rPr lang="en-US" dirty="0" err="1"/>
              <a:t>model_type</a:t>
            </a:r>
            <a:r>
              <a:rPr lang="en-US" dirty="0"/>
              <a:t>}_</a:t>
            </a:r>
            <a:r>
              <a:rPr lang="en-US" dirty="0" err="1"/>
              <a:t>sigweight</a:t>
            </a:r>
            <a:r>
              <a:rPr lang="en-US" dirty="0"/>
              <a:t>{x} </a:t>
            </a:r>
          </a:p>
          <a:p>
            <a:pPr lvl="1"/>
            <a:r>
              <a:rPr lang="en-US" dirty="0"/>
              <a:t>Example: xg_boost_sigweight2_5</a:t>
            </a:r>
          </a:p>
          <a:p>
            <a:pPr lvl="1"/>
            <a:r>
              <a:rPr lang="en-US" dirty="0"/>
              <a:t>Model types are </a:t>
            </a:r>
            <a:r>
              <a:rPr lang="en-US" dirty="0" err="1"/>
              <a:t>xg_boost</a:t>
            </a:r>
            <a:r>
              <a:rPr lang="en-US" dirty="0"/>
              <a:t>, </a:t>
            </a:r>
            <a:r>
              <a:rPr lang="en-US" dirty="0" err="1"/>
              <a:t>lin_reg</a:t>
            </a:r>
            <a:r>
              <a:rPr lang="en-US" dirty="0"/>
              <a:t>, and </a:t>
            </a:r>
            <a:r>
              <a:rPr lang="en-US" dirty="0" err="1"/>
              <a:t>random_forest</a:t>
            </a:r>
            <a:r>
              <a:rPr lang="en-US" dirty="0"/>
              <a:t>.</a:t>
            </a:r>
          </a:p>
          <a:p>
            <a:pPr lvl="1"/>
            <a:r>
              <a:rPr lang="en-US" dirty="0"/>
              <a:t>The number represents the </a:t>
            </a:r>
            <a:r>
              <a:rPr lang="en-US" dirty="0" err="1"/>
              <a:t>zscore</a:t>
            </a:r>
            <a:r>
              <a:rPr lang="en-US" dirty="0"/>
              <a:t> offset, ranging from 0 (no number listed) to 3. The underscore is really a decimal, so the example above is offset 2.5</a:t>
            </a:r>
          </a:p>
          <a:p>
            <a:pPr lvl="1"/>
            <a:r>
              <a:rPr lang="en-US" dirty="0"/>
              <a:t>See the paper linked on the previous slide, which explains the sigmoid weighting scheme and offsets.</a:t>
            </a:r>
          </a:p>
          <a:p>
            <a:pPr lvl="1"/>
            <a:r>
              <a:rPr lang="en-US" dirty="0"/>
              <a:t>You can list as many of these models as you want in the settings['models’] list in the </a:t>
            </a:r>
            <a:r>
              <a:rPr lang="en-US" dirty="0" err="1"/>
              <a:t>MPC_colocation</a:t>
            </a:r>
            <a:r>
              <a:rPr lang="en-US" dirty="0"/>
              <a:t> or </a:t>
            </a:r>
            <a:r>
              <a:rPr lang="en-US" dirty="0" err="1"/>
              <a:t>MPC_onecal</a:t>
            </a:r>
            <a:r>
              <a:rPr lang="en-US" dirty="0"/>
              <a:t> file. </a:t>
            </a:r>
          </a:p>
        </p:txBody>
      </p:sp>
    </p:spTree>
    <p:extLst>
      <p:ext uri="{BB962C8B-B14F-4D97-AF65-F5344CB8AC3E}">
        <p14:creationId xmlns:p14="http://schemas.microsoft.com/office/powerpoint/2010/main" val="34763555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A83F1-8B4E-68F7-AC8E-03A2A47F70BF}"/>
              </a:ext>
            </a:extLst>
          </p:cNvPr>
          <p:cNvSpPr>
            <a:spLocks noGrp="1"/>
          </p:cNvSpPr>
          <p:nvPr>
            <p:ph type="title"/>
          </p:nvPr>
        </p:nvSpPr>
        <p:spPr/>
        <p:txBody>
          <a:bodyPr/>
          <a:lstStyle/>
          <a:p>
            <a:r>
              <a:rPr lang="en-US"/>
              <a:t>Python_Functions functions</a:t>
            </a:r>
            <a:endParaRPr lang="en-US" dirty="0"/>
          </a:p>
        </p:txBody>
      </p:sp>
      <p:sp>
        <p:nvSpPr>
          <p:cNvPr id="3" name="Content Placeholder 2">
            <a:extLst>
              <a:ext uri="{FF2B5EF4-FFF2-40B4-BE49-F238E27FC236}">
                <a16:creationId xmlns:a16="http://schemas.microsoft.com/office/drawing/2014/main" id="{C1D42CC5-8048-0693-F20B-D7B48376EEDE}"/>
              </a:ext>
            </a:extLst>
          </p:cNvPr>
          <p:cNvSpPr>
            <a:spLocks noGrp="1"/>
          </p:cNvSpPr>
          <p:nvPr>
            <p:ph idx="1"/>
          </p:nvPr>
        </p:nvSpPr>
        <p:spPr>
          <a:xfrm>
            <a:off x="838199" y="1825625"/>
            <a:ext cx="10228729" cy="4351338"/>
          </a:xfrm>
        </p:spPr>
        <p:txBody>
          <a:bodyPr/>
          <a:lstStyle/>
          <a:p>
            <a:r>
              <a:rPr lang="en-US" dirty="0" err="1"/>
              <a:t>Plotting_func</a:t>
            </a:r>
            <a:r>
              <a:rPr lang="en-US" dirty="0"/>
              <a:t> contains plotting options</a:t>
            </a:r>
          </a:p>
          <a:p>
            <a:pPr lvl="1"/>
            <a:r>
              <a:rPr lang="en-US" dirty="0"/>
              <a:t>Plots are separated by harmonization, field, and colocation data </a:t>
            </a:r>
          </a:p>
          <a:p>
            <a:pPr lvl="1"/>
            <a:r>
              <a:rPr lang="en-US" dirty="0"/>
              <a:t>Stats plot shows the R2, RMSE, and MBE</a:t>
            </a:r>
          </a:p>
          <a:p>
            <a:r>
              <a:rPr lang="en-US" b="1" dirty="0"/>
              <a:t>I have the code set to close some plots as the code runs because having a bunch of plots open slows down the code. However, they will be saved as a </a:t>
            </a:r>
            <a:r>
              <a:rPr lang="en-US" b="1" dirty="0" err="1"/>
              <a:t>png</a:t>
            </a:r>
            <a:r>
              <a:rPr lang="en-US" b="1" dirty="0"/>
              <a:t> in the outputs folder for you to view.</a:t>
            </a:r>
          </a:p>
        </p:txBody>
      </p:sp>
    </p:spTree>
    <p:extLst>
      <p:ext uri="{BB962C8B-B14F-4D97-AF65-F5344CB8AC3E}">
        <p14:creationId xmlns:p14="http://schemas.microsoft.com/office/powerpoint/2010/main" val="11387536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20DC2-6374-C3E8-50D9-330C65709621}"/>
              </a:ext>
            </a:extLst>
          </p:cNvPr>
          <p:cNvSpPr>
            <a:spLocks noGrp="1"/>
          </p:cNvSpPr>
          <p:nvPr>
            <p:ph type="title"/>
          </p:nvPr>
        </p:nvSpPr>
        <p:spPr/>
        <p:txBody>
          <a:bodyPr/>
          <a:lstStyle/>
          <a:p>
            <a:r>
              <a:rPr lang="en-US" dirty="0"/>
              <a:t>Outputs folder</a:t>
            </a:r>
          </a:p>
        </p:txBody>
      </p:sp>
      <p:sp>
        <p:nvSpPr>
          <p:cNvPr id="3" name="Content Placeholder 2">
            <a:extLst>
              <a:ext uri="{FF2B5EF4-FFF2-40B4-BE49-F238E27FC236}">
                <a16:creationId xmlns:a16="http://schemas.microsoft.com/office/drawing/2014/main" id="{03639EE7-5B05-763C-DAD9-ACE74B49E1C6}"/>
              </a:ext>
            </a:extLst>
          </p:cNvPr>
          <p:cNvSpPr>
            <a:spLocks noGrp="1"/>
          </p:cNvSpPr>
          <p:nvPr>
            <p:ph idx="1"/>
          </p:nvPr>
        </p:nvSpPr>
        <p:spPr/>
        <p:txBody>
          <a:bodyPr/>
          <a:lstStyle/>
          <a:p>
            <a:r>
              <a:rPr lang="en-US" dirty="0"/>
              <a:t>This folder starts out empty</a:t>
            </a:r>
          </a:p>
          <a:p>
            <a:r>
              <a:rPr lang="en-US" dirty="0"/>
              <a:t>When you run MPC_colocation_1hop1cal or </a:t>
            </a:r>
            <a:r>
              <a:rPr lang="en-US" dirty="0" err="1"/>
              <a:t>MPC_colocation_individual</a:t>
            </a:r>
            <a:r>
              <a:rPr lang="en-US" dirty="0"/>
              <a:t>, python will create a new folder named Outputs_[current datetime]. Results from the run will be saved in this new folder</a:t>
            </a:r>
          </a:p>
          <a:p>
            <a:r>
              <a:rPr lang="en-US" dirty="0"/>
              <a:t>When you run MPC_field_1hop, MPC_field_1cal or </a:t>
            </a:r>
            <a:r>
              <a:rPr lang="en-US" dirty="0" err="1"/>
              <a:t>MPC_field_individual</a:t>
            </a:r>
            <a:r>
              <a:rPr lang="en-US" dirty="0"/>
              <a:t>, python will create a new folder </a:t>
            </a:r>
            <a:r>
              <a:rPr lang="en-US" i="1" dirty="0"/>
              <a:t>within </a:t>
            </a:r>
            <a:r>
              <a:rPr lang="en-US" dirty="0"/>
              <a:t>the colocation output folder (Outputs_[datetime]) that is again named as Outputs_[current datetime]. </a:t>
            </a:r>
          </a:p>
          <a:p>
            <a:r>
              <a:rPr lang="en-US" dirty="0"/>
              <a:t>You can rename these folders however you’d like</a:t>
            </a:r>
          </a:p>
        </p:txBody>
      </p:sp>
    </p:spTree>
    <p:extLst>
      <p:ext uri="{BB962C8B-B14F-4D97-AF65-F5344CB8AC3E}">
        <p14:creationId xmlns:p14="http://schemas.microsoft.com/office/powerpoint/2010/main" val="32815564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B80E6-8979-6B63-685A-E5FF17624117}"/>
              </a:ext>
            </a:extLst>
          </p:cNvPr>
          <p:cNvSpPr>
            <a:spLocks noGrp="1"/>
          </p:cNvSpPr>
          <p:nvPr>
            <p:ph type="title"/>
          </p:nvPr>
        </p:nvSpPr>
        <p:spPr/>
        <p:txBody>
          <a:bodyPr/>
          <a:lstStyle/>
          <a:p>
            <a:r>
              <a:rPr lang="en-US" dirty="0"/>
              <a:t>Outputs folder files</a:t>
            </a:r>
          </a:p>
        </p:txBody>
      </p:sp>
      <p:sp>
        <p:nvSpPr>
          <p:cNvPr id="3" name="Content Placeholder 2">
            <a:extLst>
              <a:ext uri="{FF2B5EF4-FFF2-40B4-BE49-F238E27FC236}">
                <a16:creationId xmlns:a16="http://schemas.microsoft.com/office/drawing/2014/main" id="{9103117D-C476-2E82-D6A1-FD3151B415F1}"/>
              </a:ext>
            </a:extLst>
          </p:cNvPr>
          <p:cNvSpPr>
            <a:spLocks noGrp="1"/>
          </p:cNvSpPr>
          <p:nvPr>
            <p:ph idx="1"/>
          </p:nvPr>
        </p:nvSpPr>
        <p:spPr/>
        <p:txBody>
          <a:bodyPr>
            <a:normAutofit fontScale="85000" lnSpcReduction="20000"/>
          </a:bodyPr>
          <a:lstStyle/>
          <a:p>
            <a:r>
              <a:rPr lang="en-US" dirty="0"/>
              <a:t>In the first output folder (for the colocation step)</a:t>
            </a:r>
          </a:p>
          <a:p>
            <a:pPr lvl="1"/>
            <a:r>
              <a:rPr lang="en-US" dirty="0"/>
              <a:t>Colocation figures</a:t>
            </a:r>
          </a:p>
          <a:p>
            <a:pPr lvl="1"/>
            <a:r>
              <a:rPr lang="en-US" dirty="0" err="1"/>
              <a:t>Colo_model_stats</a:t>
            </a:r>
            <a:r>
              <a:rPr lang="en-US" dirty="0"/>
              <a:t>: R2, RMSE, and MBE</a:t>
            </a:r>
          </a:p>
          <a:p>
            <a:pPr lvl="1"/>
            <a:r>
              <a:rPr lang="en-US" dirty="0" err="1"/>
              <a:t>Colo_X</a:t>
            </a:r>
            <a:r>
              <a:rPr lang="en-US" dirty="0"/>
              <a:t> : preprocessed pod data used in </a:t>
            </a:r>
            <a:r>
              <a:rPr lang="en-US" dirty="0" err="1"/>
              <a:t>colo</a:t>
            </a:r>
            <a:r>
              <a:rPr lang="en-US" dirty="0"/>
              <a:t> model</a:t>
            </a:r>
          </a:p>
          <a:p>
            <a:pPr lvl="1"/>
            <a:r>
              <a:rPr lang="en-US" dirty="0" err="1"/>
              <a:t>Colo_X_std</a:t>
            </a:r>
            <a:r>
              <a:rPr lang="en-US" dirty="0"/>
              <a:t>: standardized preprocessed pod data used in </a:t>
            </a:r>
            <a:r>
              <a:rPr lang="en-US" dirty="0" err="1"/>
              <a:t>colo</a:t>
            </a:r>
            <a:r>
              <a:rPr lang="en-US" dirty="0"/>
              <a:t> model</a:t>
            </a:r>
          </a:p>
          <a:p>
            <a:pPr lvl="1"/>
            <a:r>
              <a:rPr lang="en-US" dirty="0" err="1"/>
              <a:t>Colo_y_reference</a:t>
            </a:r>
            <a:r>
              <a:rPr lang="en-US" dirty="0"/>
              <a:t>: reference data (retimed to match X)</a:t>
            </a:r>
          </a:p>
          <a:p>
            <a:pPr lvl="1"/>
            <a:r>
              <a:rPr lang="en-US" dirty="0"/>
              <a:t>{</a:t>
            </a:r>
            <a:r>
              <a:rPr lang="en-US" dirty="0" err="1"/>
              <a:t>model_name</a:t>
            </a:r>
            <a:r>
              <a:rPr lang="en-US" dirty="0"/>
              <a:t>}_</a:t>
            </a:r>
            <a:r>
              <a:rPr lang="en-US" dirty="0" err="1"/>
              <a:t>colo_y_predicted</a:t>
            </a:r>
            <a:r>
              <a:rPr lang="en-US" dirty="0"/>
              <a:t>: predicted y from calibrated pod data X</a:t>
            </a:r>
          </a:p>
          <a:p>
            <a:pPr lvl="1"/>
            <a:r>
              <a:rPr lang="en-US" dirty="0" err="1"/>
              <a:t>Run_settings.joblib</a:t>
            </a:r>
            <a:r>
              <a:rPr lang="en-US" dirty="0"/>
              <a:t>: python variable that saves the run settings</a:t>
            </a:r>
          </a:p>
          <a:p>
            <a:pPr lvl="1"/>
            <a:r>
              <a:rPr lang="en-US" dirty="0"/>
              <a:t>{</a:t>
            </a:r>
            <a:r>
              <a:rPr lang="en-US" dirty="0" err="1"/>
              <a:t>model_name</a:t>
            </a:r>
            <a:r>
              <a:rPr lang="en-US" dirty="0"/>
              <a:t>}_</a:t>
            </a:r>
            <a:r>
              <a:rPr lang="en-US" dirty="0" err="1"/>
              <a:t>model.joblib</a:t>
            </a:r>
            <a:r>
              <a:rPr lang="en-US" dirty="0"/>
              <a:t>: python variable that saves the model (coefficients, etc.)</a:t>
            </a:r>
          </a:p>
          <a:p>
            <a:pPr lvl="1"/>
            <a:endParaRPr lang="en-US" dirty="0"/>
          </a:p>
          <a:p>
            <a:pPr>
              <a:spcAft>
                <a:spcPts val="1200"/>
              </a:spcAft>
            </a:pPr>
            <a:r>
              <a:rPr lang="en-US" dirty="0"/>
              <a:t>If you are using individual calibration, there will be a separate set of output files (listed above) for each pod, with the pod name specified at the end.</a:t>
            </a:r>
          </a:p>
          <a:p>
            <a:r>
              <a:rPr lang="en-US" dirty="0" err="1"/>
              <a:t>Joblib</a:t>
            </a:r>
            <a:r>
              <a:rPr lang="en-US" dirty="0"/>
              <a:t> variables can be loaded into python using </a:t>
            </a:r>
            <a:r>
              <a:rPr lang="en-US" dirty="0" err="1"/>
              <a:t>joblib.load</a:t>
            </a:r>
            <a:r>
              <a:rPr lang="en-US" dirty="0"/>
              <a:t>() </a:t>
            </a:r>
          </a:p>
          <a:p>
            <a:pPr lvl="1"/>
            <a:r>
              <a:rPr lang="en-US" dirty="0"/>
              <a:t>After you have imported the </a:t>
            </a:r>
            <a:r>
              <a:rPr lang="en-US" dirty="0" err="1"/>
              <a:t>joblib</a:t>
            </a:r>
            <a:r>
              <a:rPr lang="en-US" dirty="0"/>
              <a:t> package</a:t>
            </a:r>
          </a:p>
        </p:txBody>
      </p:sp>
    </p:spTree>
    <p:extLst>
      <p:ext uri="{BB962C8B-B14F-4D97-AF65-F5344CB8AC3E}">
        <p14:creationId xmlns:p14="http://schemas.microsoft.com/office/powerpoint/2010/main" val="8771807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4AE17-4764-A5C5-A86B-C3B96A1BADCD}"/>
              </a:ext>
            </a:extLst>
          </p:cNvPr>
          <p:cNvSpPr>
            <a:spLocks noGrp="1"/>
          </p:cNvSpPr>
          <p:nvPr>
            <p:ph type="title"/>
          </p:nvPr>
        </p:nvSpPr>
        <p:spPr/>
        <p:txBody>
          <a:bodyPr/>
          <a:lstStyle/>
          <a:p>
            <a:r>
              <a:rPr lang="en-US" dirty="0" err="1"/>
              <a:t>MPC_colocation</a:t>
            </a:r>
            <a:endParaRPr lang="en-US" dirty="0"/>
          </a:p>
        </p:txBody>
      </p:sp>
      <p:sp>
        <p:nvSpPr>
          <p:cNvPr id="3" name="Content Placeholder 2">
            <a:extLst>
              <a:ext uri="{FF2B5EF4-FFF2-40B4-BE49-F238E27FC236}">
                <a16:creationId xmlns:a16="http://schemas.microsoft.com/office/drawing/2014/main" id="{8CC5F050-C5D5-8045-C394-56C60582B4FE}"/>
              </a:ext>
            </a:extLst>
          </p:cNvPr>
          <p:cNvSpPr>
            <a:spLocks noGrp="1"/>
          </p:cNvSpPr>
          <p:nvPr>
            <p:ph idx="1"/>
          </p:nvPr>
        </p:nvSpPr>
        <p:spPr/>
        <p:txBody>
          <a:bodyPr>
            <a:normAutofit fontScale="85000" lnSpcReduction="20000"/>
          </a:bodyPr>
          <a:lstStyle/>
          <a:p>
            <a:r>
              <a:rPr lang="en-US" dirty="0"/>
              <a:t>This function calibrates the colocation pod data to the reference data</a:t>
            </a:r>
          </a:p>
          <a:p>
            <a:r>
              <a:rPr lang="en-US" dirty="0"/>
              <a:t>Packages you need to install before running:</a:t>
            </a:r>
          </a:p>
          <a:p>
            <a:pPr lvl="1"/>
            <a:r>
              <a:rPr lang="en-US" dirty="0" err="1"/>
              <a:t>os</a:t>
            </a:r>
            <a:endParaRPr lang="en-US" dirty="0"/>
          </a:p>
          <a:p>
            <a:pPr lvl="1"/>
            <a:r>
              <a:rPr lang="en-US" dirty="0"/>
              <a:t>matplotlib </a:t>
            </a:r>
          </a:p>
          <a:p>
            <a:pPr lvl="1"/>
            <a:r>
              <a:rPr lang="en-US" dirty="0"/>
              <a:t>pandas</a:t>
            </a:r>
          </a:p>
          <a:p>
            <a:pPr lvl="1"/>
            <a:r>
              <a:rPr lang="en-US" dirty="0" err="1"/>
              <a:t>sklearn</a:t>
            </a:r>
            <a:endParaRPr lang="en-US" dirty="0"/>
          </a:p>
          <a:p>
            <a:pPr lvl="1"/>
            <a:r>
              <a:rPr lang="en-US" dirty="0"/>
              <a:t>datetime</a:t>
            </a:r>
          </a:p>
          <a:p>
            <a:pPr lvl="1"/>
            <a:r>
              <a:rPr lang="en-US" dirty="0" err="1"/>
              <a:t>importlib</a:t>
            </a:r>
            <a:endParaRPr lang="en-US" dirty="0"/>
          </a:p>
          <a:p>
            <a:pPr lvl="1"/>
            <a:r>
              <a:rPr lang="en-US" dirty="0" err="1"/>
              <a:t>joblib</a:t>
            </a:r>
            <a:endParaRPr lang="en-US" dirty="0"/>
          </a:p>
          <a:p>
            <a:pPr lvl="1"/>
            <a:r>
              <a:rPr lang="en-US" dirty="0" err="1"/>
              <a:t>atmos</a:t>
            </a:r>
            <a:endParaRPr lang="en-US" dirty="0"/>
          </a:p>
          <a:p>
            <a:pPr lvl="1"/>
            <a:r>
              <a:rPr lang="en-US" dirty="0" err="1"/>
              <a:t>numpy</a:t>
            </a:r>
            <a:endParaRPr lang="en-US" dirty="0"/>
          </a:p>
          <a:p>
            <a:pPr lvl="1"/>
            <a:r>
              <a:rPr lang="en-US" dirty="0" err="1"/>
              <a:t>xlsxwriter</a:t>
            </a:r>
            <a:endParaRPr lang="en-US" dirty="0"/>
          </a:p>
          <a:p>
            <a:pPr lvl="1"/>
            <a:r>
              <a:rPr lang="en-US" dirty="0" err="1"/>
              <a:t>tensorflow</a:t>
            </a:r>
            <a:endParaRPr lang="en-US" dirty="0"/>
          </a:p>
          <a:p>
            <a:pPr lvl="1"/>
            <a:r>
              <a:rPr lang="en-US" dirty="0"/>
              <a:t>seaborn</a:t>
            </a:r>
          </a:p>
          <a:p>
            <a:pPr lvl="1"/>
            <a:r>
              <a:rPr lang="en-US" dirty="0"/>
              <a:t>copy</a:t>
            </a:r>
          </a:p>
          <a:p>
            <a:pPr lvl="1"/>
            <a:endParaRPr lang="en-US" dirty="0"/>
          </a:p>
          <a:p>
            <a:endParaRPr lang="en-US" dirty="0"/>
          </a:p>
        </p:txBody>
      </p:sp>
    </p:spTree>
    <p:extLst>
      <p:ext uri="{BB962C8B-B14F-4D97-AF65-F5344CB8AC3E}">
        <p14:creationId xmlns:p14="http://schemas.microsoft.com/office/powerpoint/2010/main" val="29693657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5797C44-D3DB-E212-4962-54D73C659BA9}"/>
              </a:ext>
            </a:extLst>
          </p:cNvPr>
          <p:cNvSpPr>
            <a:spLocks noGrp="1"/>
          </p:cNvSpPr>
          <p:nvPr>
            <p:ph type="title"/>
          </p:nvPr>
        </p:nvSpPr>
        <p:spPr/>
        <p:txBody>
          <a:bodyPr/>
          <a:lstStyle/>
          <a:p>
            <a:r>
              <a:rPr lang="en-US" dirty="0"/>
              <a:t>Building the colocation model</a:t>
            </a:r>
          </a:p>
        </p:txBody>
      </p:sp>
      <p:sp>
        <p:nvSpPr>
          <p:cNvPr id="5" name="Text Placeholder 4">
            <a:extLst>
              <a:ext uri="{FF2B5EF4-FFF2-40B4-BE49-F238E27FC236}">
                <a16:creationId xmlns:a16="http://schemas.microsoft.com/office/drawing/2014/main" id="{C5265BBA-7E84-6A5B-8EFF-D9A44D868C1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4220879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5556940-ABBF-5A88-6817-8054F84BEB26}"/>
              </a:ext>
            </a:extLst>
          </p:cNvPr>
          <p:cNvSpPr>
            <a:spLocks noGrp="1"/>
          </p:cNvSpPr>
          <p:nvPr>
            <p:ph type="title"/>
          </p:nvPr>
        </p:nvSpPr>
        <p:spPr/>
        <p:txBody>
          <a:bodyPr/>
          <a:lstStyle/>
          <a:p>
            <a:r>
              <a:rPr lang="en-US" dirty="0"/>
              <a:t>Python script choice</a:t>
            </a:r>
          </a:p>
        </p:txBody>
      </p:sp>
      <p:sp>
        <p:nvSpPr>
          <p:cNvPr id="5" name="Content Placeholder 4">
            <a:extLst>
              <a:ext uri="{FF2B5EF4-FFF2-40B4-BE49-F238E27FC236}">
                <a16:creationId xmlns:a16="http://schemas.microsoft.com/office/drawing/2014/main" id="{8CE76DF1-CC5E-7BDD-21B5-9D525FB8C7EA}"/>
              </a:ext>
            </a:extLst>
          </p:cNvPr>
          <p:cNvSpPr>
            <a:spLocks noGrp="1"/>
          </p:cNvSpPr>
          <p:nvPr>
            <p:ph idx="1"/>
          </p:nvPr>
        </p:nvSpPr>
        <p:spPr/>
        <p:txBody>
          <a:bodyPr/>
          <a:lstStyle/>
          <a:p>
            <a:pPr>
              <a:spcAft>
                <a:spcPts val="1800"/>
              </a:spcAft>
            </a:pPr>
            <a:r>
              <a:rPr lang="en-US" dirty="0"/>
              <a:t>For a 1-hop or 1-cal calibration, build the colocation model using MPC_colocation_1hop1cal</a:t>
            </a:r>
          </a:p>
          <a:p>
            <a:pPr>
              <a:spcAft>
                <a:spcPts val="1800"/>
              </a:spcAft>
            </a:pPr>
            <a:r>
              <a:rPr lang="en-US" dirty="0"/>
              <a:t>For an individual calibration, build the colocation model using </a:t>
            </a:r>
            <a:r>
              <a:rPr lang="en-US" dirty="0" err="1"/>
              <a:t>MPC_colocation_individual</a:t>
            </a:r>
            <a:endParaRPr lang="en-US" dirty="0"/>
          </a:p>
        </p:txBody>
      </p:sp>
    </p:spTree>
    <p:extLst>
      <p:ext uri="{BB962C8B-B14F-4D97-AF65-F5344CB8AC3E}">
        <p14:creationId xmlns:p14="http://schemas.microsoft.com/office/powerpoint/2010/main" val="9248541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4AE17-4764-A5C5-A86B-C3B96A1BADCD}"/>
              </a:ext>
            </a:extLst>
          </p:cNvPr>
          <p:cNvSpPr>
            <a:spLocks noGrp="1"/>
          </p:cNvSpPr>
          <p:nvPr>
            <p:ph type="title"/>
          </p:nvPr>
        </p:nvSpPr>
        <p:spPr>
          <a:xfrm>
            <a:off x="381000" y="365124"/>
            <a:ext cx="10515600" cy="1325563"/>
          </a:xfrm>
        </p:spPr>
        <p:txBody>
          <a:bodyPr/>
          <a:lstStyle/>
          <a:p>
            <a:r>
              <a:rPr lang="en-US" dirty="0"/>
              <a:t>Settings</a:t>
            </a:r>
          </a:p>
        </p:txBody>
      </p:sp>
      <p:sp>
        <p:nvSpPr>
          <p:cNvPr id="3" name="Content Placeholder 2">
            <a:extLst>
              <a:ext uri="{FF2B5EF4-FFF2-40B4-BE49-F238E27FC236}">
                <a16:creationId xmlns:a16="http://schemas.microsoft.com/office/drawing/2014/main" id="{8CC5F050-C5D5-8045-C394-56C60582B4FE}"/>
              </a:ext>
            </a:extLst>
          </p:cNvPr>
          <p:cNvSpPr>
            <a:spLocks noGrp="1"/>
          </p:cNvSpPr>
          <p:nvPr>
            <p:ph idx="1"/>
          </p:nvPr>
        </p:nvSpPr>
        <p:spPr>
          <a:xfrm>
            <a:off x="264160" y="1825625"/>
            <a:ext cx="4328160" cy="4351338"/>
          </a:xfrm>
        </p:spPr>
        <p:txBody>
          <a:bodyPr>
            <a:normAutofit fontScale="92500" lnSpcReduction="20000"/>
          </a:bodyPr>
          <a:lstStyle/>
          <a:p>
            <a:pPr>
              <a:spcAft>
                <a:spcPts val="1200"/>
              </a:spcAft>
            </a:pPr>
            <a:r>
              <a:rPr lang="en-US" dirty="0"/>
              <a:t>You must pre-set the settings at the start of the code. There are notes next to each setting variable to inform you </a:t>
            </a:r>
          </a:p>
          <a:p>
            <a:pPr>
              <a:spcAft>
                <a:spcPts val="1200"/>
              </a:spcAft>
            </a:pPr>
            <a:r>
              <a:rPr lang="en-US" dirty="0"/>
              <a:t>If you aren’t sure of the options for ‘</a:t>
            </a:r>
            <a:r>
              <a:rPr lang="en-US" dirty="0" err="1"/>
              <a:t>traintest_split_type</a:t>
            </a:r>
            <a:r>
              <a:rPr lang="en-US" dirty="0"/>
              <a:t>’, ‘preprocess’, ‘models’, or ‘</a:t>
            </a:r>
            <a:r>
              <a:rPr lang="en-US" dirty="0" err="1"/>
              <a:t>colo_plot_list</a:t>
            </a:r>
            <a:r>
              <a:rPr lang="en-US" dirty="0"/>
              <a:t>’, you can look in the </a:t>
            </a:r>
            <a:r>
              <a:rPr lang="en-US" dirty="0" err="1"/>
              <a:t>Python_Functions</a:t>
            </a:r>
            <a:r>
              <a:rPr lang="en-US" dirty="0"/>
              <a:t> folder for function options and names. </a:t>
            </a:r>
          </a:p>
          <a:p>
            <a:pPr>
              <a:spcAft>
                <a:spcPts val="1200"/>
              </a:spcAft>
            </a:pPr>
            <a:endParaRPr lang="en-US" dirty="0"/>
          </a:p>
          <a:p>
            <a:endParaRPr lang="en-US" dirty="0"/>
          </a:p>
          <a:p>
            <a:pPr marL="0" indent="0">
              <a:buNone/>
            </a:pPr>
            <a:endParaRPr lang="en-US" dirty="0"/>
          </a:p>
          <a:p>
            <a:pPr lvl="1"/>
            <a:endParaRPr lang="en-US" dirty="0"/>
          </a:p>
          <a:p>
            <a:endParaRPr lang="en-US" dirty="0"/>
          </a:p>
        </p:txBody>
      </p:sp>
      <p:pic>
        <p:nvPicPr>
          <p:cNvPr id="7" name="Picture 6">
            <a:extLst>
              <a:ext uri="{FF2B5EF4-FFF2-40B4-BE49-F238E27FC236}">
                <a16:creationId xmlns:a16="http://schemas.microsoft.com/office/drawing/2014/main" id="{E48F8659-CA2F-1B34-4EA2-C029530C5180}"/>
              </a:ext>
            </a:extLst>
          </p:cNvPr>
          <p:cNvPicPr>
            <a:picLocks noChangeAspect="1"/>
          </p:cNvPicPr>
          <p:nvPr/>
        </p:nvPicPr>
        <p:blipFill>
          <a:blip r:embed="rId2"/>
          <a:stretch>
            <a:fillRect/>
          </a:stretch>
        </p:blipFill>
        <p:spPr>
          <a:xfrm>
            <a:off x="4511040" y="1289876"/>
            <a:ext cx="7416800" cy="4618007"/>
          </a:xfrm>
          <a:prstGeom prst="rect">
            <a:avLst/>
          </a:prstGeom>
        </p:spPr>
      </p:pic>
    </p:spTree>
    <p:extLst>
      <p:ext uri="{BB962C8B-B14F-4D97-AF65-F5344CB8AC3E}">
        <p14:creationId xmlns:p14="http://schemas.microsoft.com/office/powerpoint/2010/main" val="6445732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4BDC0-45AA-24A2-C7D0-F938419BA8EF}"/>
              </a:ext>
            </a:extLst>
          </p:cNvPr>
          <p:cNvSpPr>
            <a:spLocks noGrp="1"/>
          </p:cNvSpPr>
          <p:nvPr>
            <p:ph type="title"/>
          </p:nvPr>
        </p:nvSpPr>
        <p:spPr>
          <a:xfrm>
            <a:off x="0" y="131445"/>
            <a:ext cx="4989522" cy="1325563"/>
          </a:xfrm>
        </p:spPr>
        <p:txBody>
          <a:bodyPr>
            <a:normAutofit/>
          </a:bodyPr>
          <a:lstStyle/>
          <a:p>
            <a:r>
              <a:rPr lang="en-US" sz="3600" dirty="0"/>
              <a:t>Settings[‘</a:t>
            </a:r>
            <a:r>
              <a:rPr lang="en-US" sz="3600" dirty="0" err="1"/>
              <a:t>column_names</a:t>
            </a:r>
            <a:r>
              <a:rPr lang="en-US" sz="3600" dirty="0"/>
              <a:t>’]</a:t>
            </a:r>
          </a:p>
        </p:txBody>
      </p:sp>
      <p:sp>
        <p:nvSpPr>
          <p:cNvPr id="3" name="Content Placeholder 2">
            <a:extLst>
              <a:ext uri="{FF2B5EF4-FFF2-40B4-BE49-F238E27FC236}">
                <a16:creationId xmlns:a16="http://schemas.microsoft.com/office/drawing/2014/main" id="{52BC4895-BA7A-32D7-B1C0-54CAE31102AD}"/>
              </a:ext>
            </a:extLst>
          </p:cNvPr>
          <p:cNvSpPr>
            <a:spLocks noGrp="1"/>
          </p:cNvSpPr>
          <p:nvPr>
            <p:ph idx="1"/>
          </p:nvPr>
        </p:nvSpPr>
        <p:spPr/>
        <p:txBody>
          <a:bodyPr>
            <a:normAutofit lnSpcReduction="10000"/>
          </a:bodyPr>
          <a:lstStyle/>
          <a:p>
            <a:pPr>
              <a:spcAft>
                <a:spcPts val="1200"/>
              </a:spcAft>
            </a:pPr>
            <a:r>
              <a:rPr lang="en-US" dirty="0"/>
              <a:t>In the deployment log, each row represents a .txt file. The </a:t>
            </a:r>
            <a:r>
              <a:rPr lang="en-US" dirty="0" err="1"/>
              <a:t>column_names</a:t>
            </a:r>
            <a:r>
              <a:rPr lang="en-US" dirty="0"/>
              <a:t> variable in the last column of the deployment log specifies which list of column names should be used for that .txt file</a:t>
            </a:r>
          </a:p>
          <a:p>
            <a:pPr lvl="1">
              <a:spcAft>
                <a:spcPts val="1200"/>
              </a:spcAft>
            </a:pPr>
            <a:r>
              <a:rPr lang="en-US" dirty="0"/>
              <a:t>The list will depend on what firmware was used, since the way data is written onto the SD card varies depending on firmware</a:t>
            </a:r>
          </a:p>
          <a:p>
            <a:pPr>
              <a:spcAft>
                <a:spcPts val="1200"/>
              </a:spcAft>
            </a:pPr>
            <a:r>
              <a:rPr lang="en-US" dirty="0"/>
              <a:t>The settings[‘</a:t>
            </a:r>
            <a:r>
              <a:rPr lang="en-US" dirty="0" err="1"/>
              <a:t>column_names</a:t>
            </a:r>
            <a:r>
              <a:rPr lang="en-US" dirty="0"/>
              <a:t>’] list can contain all the different options for column names. </a:t>
            </a:r>
          </a:p>
          <a:p>
            <a:pPr lvl="1">
              <a:spcAft>
                <a:spcPts val="1200"/>
              </a:spcAft>
            </a:pPr>
            <a:r>
              <a:rPr lang="en-US" dirty="0"/>
              <a:t>You can add more to this list, just give it a name </a:t>
            </a:r>
          </a:p>
          <a:p>
            <a:pPr lvl="1">
              <a:spcAft>
                <a:spcPts val="1200"/>
              </a:spcAft>
            </a:pPr>
            <a:r>
              <a:rPr lang="en-US" dirty="0"/>
              <a:t>In the screenshot, the two options are 3.1.0 and 3.2.0</a:t>
            </a:r>
          </a:p>
          <a:p>
            <a:pPr>
              <a:spcAft>
                <a:spcPts val="1200"/>
              </a:spcAft>
            </a:pPr>
            <a:endParaRPr lang="en-US" dirty="0"/>
          </a:p>
        </p:txBody>
      </p:sp>
      <p:pic>
        <p:nvPicPr>
          <p:cNvPr id="5" name="Picture 4">
            <a:extLst>
              <a:ext uri="{FF2B5EF4-FFF2-40B4-BE49-F238E27FC236}">
                <a16:creationId xmlns:a16="http://schemas.microsoft.com/office/drawing/2014/main" id="{79BA6ACB-0B42-A681-A63C-17D9839B2A0F}"/>
              </a:ext>
            </a:extLst>
          </p:cNvPr>
          <p:cNvPicPr>
            <a:picLocks noChangeAspect="1"/>
          </p:cNvPicPr>
          <p:nvPr/>
        </p:nvPicPr>
        <p:blipFill>
          <a:blip r:embed="rId2"/>
          <a:stretch>
            <a:fillRect/>
          </a:stretch>
        </p:blipFill>
        <p:spPr>
          <a:xfrm>
            <a:off x="4989522" y="357072"/>
            <a:ext cx="7110076" cy="1333616"/>
          </a:xfrm>
          <a:prstGeom prst="rect">
            <a:avLst/>
          </a:prstGeom>
        </p:spPr>
      </p:pic>
    </p:spTree>
    <p:extLst>
      <p:ext uri="{BB962C8B-B14F-4D97-AF65-F5344CB8AC3E}">
        <p14:creationId xmlns:p14="http://schemas.microsoft.com/office/powerpoint/2010/main" val="82182464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C3286-176E-60FB-D97E-5D5C27A615CB}"/>
              </a:ext>
            </a:extLst>
          </p:cNvPr>
          <p:cNvSpPr>
            <a:spLocks noGrp="1"/>
          </p:cNvSpPr>
          <p:nvPr>
            <p:ph type="title"/>
          </p:nvPr>
        </p:nvSpPr>
        <p:spPr/>
        <p:txBody>
          <a:bodyPr/>
          <a:lstStyle/>
          <a:p>
            <a:r>
              <a:rPr lang="en-US" dirty="0"/>
              <a:t>Applying the colocation model to field data</a:t>
            </a:r>
          </a:p>
        </p:txBody>
      </p:sp>
      <p:sp>
        <p:nvSpPr>
          <p:cNvPr id="3" name="Text Placeholder 2">
            <a:extLst>
              <a:ext uri="{FF2B5EF4-FFF2-40B4-BE49-F238E27FC236}">
                <a16:creationId xmlns:a16="http://schemas.microsoft.com/office/drawing/2014/main" id="{4AEFAB68-2305-5D53-C6D1-02983CD0C7EC}"/>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714344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F3D9C-2966-44C2-9161-026358D27B1D}"/>
              </a:ext>
            </a:extLst>
          </p:cNvPr>
          <p:cNvSpPr>
            <a:spLocks noGrp="1"/>
          </p:cNvSpPr>
          <p:nvPr>
            <p:ph type="title"/>
          </p:nvPr>
        </p:nvSpPr>
        <p:spPr/>
        <p:txBody>
          <a:bodyPr/>
          <a:lstStyle/>
          <a:p>
            <a:r>
              <a:rPr lang="en-US" dirty="0"/>
              <a:t>For 1-hop: Use MPC_field_1hop</a:t>
            </a:r>
          </a:p>
        </p:txBody>
      </p:sp>
      <p:sp>
        <p:nvSpPr>
          <p:cNvPr id="3" name="Content Placeholder 2">
            <a:extLst>
              <a:ext uri="{FF2B5EF4-FFF2-40B4-BE49-F238E27FC236}">
                <a16:creationId xmlns:a16="http://schemas.microsoft.com/office/drawing/2014/main" id="{A2F35812-831C-9217-B692-1B9217A404E7}"/>
              </a:ext>
            </a:extLst>
          </p:cNvPr>
          <p:cNvSpPr>
            <a:spLocks noGrp="1"/>
          </p:cNvSpPr>
          <p:nvPr>
            <p:ph idx="1"/>
          </p:nvPr>
        </p:nvSpPr>
        <p:spPr/>
        <p:txBody>
          <a:bodyPr/>
          <a:lstStyle/>
          <a:p>
            <a:r>
              <a:rPr lang="en-US" dirty="0"/>
              <a:t>Harmonizes pod data to the colocation pod using a linear regression between each individual sensor signal</a:t>
            </a:r>
          </a:p>
          <a:p>
            <a:r>
              <a:rPr lang="en-US" dirty="0"/>
              <a:t>Choose your favorite model from MPC_colocation_1hop1cal, and this code will apply it to field data to get calibrated field data</a:t>
            </a:r>
          </a:p>
        </p:txBody>
      </p:sp>
    </p:spTree>
    <p:extLst>
      <p:ext uri="{BB962C8B-B14F-4D97-AF65-F5344CB8AC3E}">
        <p14:creationId xmlns:p14="http://schemas.microsoft.com/office/powerpoint/2010/main" val="14126571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F3D9C-2966-44C2-9161-026358D27B1D}"/>
              </a:ext>
            </a:extLst>
          </p:cNvPr>
          <p:cNvSpPr>
            <a:spLocks noGrp="1"/>
          </p:cNvSpPr>
          <p:nvPr>
            <p:ph type="title"/>
          </p:nvPr>
        </p:nvSpPr>
        <p:spPr>
          <a:xfrm>
            <a:off x="716280" y="-315595"/>
            <a:ext cx="10515600" cy="1325563"/>
          </a:xfrm>
        </p:spPr>
        <p:txBody>
          <a:bodyPr/>
          <a:lstStyle/>
          <a:p>
            <a:r>
              <a:rPr lang="en-US" dirty="0"/>
              <a:t>For 1-hop: MPC_field_1hop</a:t>
            </a:r>
          </a:p>
        </p:txBody>
      </p:sp>
      <p:sp>
        <p:nvSpPr>
          <p:cNvPr id="3" name="Content Placeholder 2">
            <a:extLst>
              <a:ext uri="{FF2B5EF4-FFF2-40B4-BE49-F238E27FC236}">
                <a16:creationId xmlns:a16="http://schemas.microsoft.com/office/drawing/2014/main" id="{A2F35812-831C-9217-B692-1B9217A404E7}"/>
              </a:ext>
            </a:extLst>
          </p:cNvPr>
          <p:cNvSpPr>
            <a:spLocks noGrp="1"/>
          </p:cNvSpPr>
          <p:nvPr>
            <p:ph idx="1"/>
          </p:nvPr>
        </p:nvSpPr>
        <p:spPr>
          <a:xfrm>
            <a:off x="716280" y="2702559"/>
            <a:ext cx="10515600" cy="4094713"/>
          </a:xfrm>
        </p:spPr>
        <p:txBody>
          <a:bodyPr>
            <a:normAutofit fontScale="85000" lnSpcReduction="20000"/>
          </a:bodyPr>
          <a:lstStyle/>
          <a:p>
            <a:pPr marL="0" indent="0">
              <a:buNone/>
            </a:pPr>
            <a:r>
              <a:rPr lang="en-US" dirty="0"/>
              <a:t>Variables to adjust in MPC_field_1hop:</a:t>
            </a:r>
          </a:p>
          <a:p>
            <a:r>
              <a:rPr lang="en-US" dirty="0" err="1"/>
              <a:t>hf_set</a:t>
            </a:r>
            <a:r>
              <a:rPr lang="en-US" dirty="0"/>
              <a:t>[‘</a:t>
            </a:r>
            <a:r>
              <a:rPr lang="en-US" dirty="0" err="1"/>
              <a:t>hf_run_name</a:t>
            </a:r>
            <a:r>
              <a:rPr lang="en-US" dirty="0"/>
              <a:t>’]: write what you want to save the output folder name as. If you leave it as ‘’, it will use the current datetime as the name</a:t>
            </a:r>
          </a:p>
          <a:p>
            <a:r>
              <a:rPr lang="en-US" dirty="0" err="1"/>
              <a:t>colo_output_folder</a:t>
            </a:r>
            <a:r>
              <a:rPr lang="en-US" dirty="0"/>
              <a:t>: list the folder name that you want to pull the </a:t>
            </a:r>
            <a:r>
              <a:rPr lang="en-US" dirty="0" err="1"/>
              <a:t>MPC_colocation</a:t>
            </a:r>
            <a:r>
              <a:rPr lang="en-US" dirty="0"/>
              <a:t> results from</a:t>
            </a:r>
          </a:p>
          <a:p>
            <a:r>
              <a:rPr lang="en-US" dirty="0" err="1"/>
              <a:t>hf_set</a:t>
            </a:r>
            <a:r>
              <a:rPr lang="en-US" dirty="0"/>
              <a:t>[‘</a:t>
            </a:r>
            <a:r>
              <a:rPr lang="en-US" dirty="0" err="1"/>
              <a:t>run_field</a:t>
            </a:r>
            <a:r>
              <a:rPr lang="en-US" dirty="0"/>
              <a:t>’]: true if you want to apply calibration to field data. False if not.</a:t>
            </a:r>
          </a:p>
          <a:p>
            <a:r>
              <a:rPr lang="en-US" dirty="0" err="1"/>
              <a:t>hf_set</a:t>
            </a:r>
            <a:r>
              <a:rPr lang="en-US" dirty="0"/>
              <a:t>[‘</a:t>
            </a:r>
            <a:r>
              <a:rPr lang="en-US" dirty="0" err="1"/>
              <a:t>best_model</a:t>
            </a:r>
            <a:r>
              <a:rPr lang="en-US" dirty="0"/>
              <a:t>’]: choose the model that you want to apply to your field data, based on the results in the </a:t>
            </a:r>
            <a:r>
              <a:rPr lang="en-US" dirty="0" err="1"/>
              <a:t>colo_output_folder</a:t>
            </a:r>
            <a:r>
              <a:rPr lang="en-US" dirty="0"/>
              <a:t> </a:t>
            </a:r>
            <a:r>
              <a:rPr lang="en-US" dirty="0" err="1"/>
              <a:t>MPC_colocation</a:t>
            </a:r>
            <a:r>
              <a:rPr lang="en-US" dirty="0"/>
              <a:t> run</a:t>
            </a:r>
          </a:p>
          <a:p>
            <a:r>
              <a:rPr lang="en-US" dirty="0" err="1"/>
              <a:t>hf_set</a:t>
            </a:r>
            <a:r>
              <a:rPr lang="en-US" dirty="0"/>
              <a:t>[‘</a:t>
            </a:r>
            <a:r>
              <a:rPr lang="en-US" dirty="0" err="1"/>
              <a:t>k_folds</a:t>
            </a:r>
            <a:r>
              <a:rPr lang="en-US" dirty="0"/>
              <a:t>’]: number of folds to split data into. Read about k-fold cross validation if you are unfamiliar with this. Usually, it is 5-10</a:t>
            </a:r>
          </a:p>
          <a:p>
            <a:r>
              <a:rPr lang="en-US" dirty="0" err="1"/>
              <a:t>plot_list</a:t>
            </a:r>
            <a:r>
              <a:rPr lang="en-US" dirty="0"/>
              <a:t> is a list of plots (separated by harmonization and field data) that you want python to plot</a:t>
            </a:r>
          </a:p>
        </p:txBody>
      </p:sp>
      <p:pic>
        <p:nvPicPr>
          <p:cNvPr id="6" name="Picture 5">
            <a:extLst>
              <a:ext uri="{FF2B5EF4-FFF2-40B4-BE49-F238E27FC236}">
                <a16:creationId xmlns:a16="http://schemas.microsoft.com/office/drawing/2014/main" id="{C3227077-D6FA-FC3E-3B2C-3FB576E5AEA8}"/>
              </a:ext>
            </a:extLst>
          </p:cNvPr>
          <p:cNvPicPr>
            <a:picLocks noChangeAspect="1"/>
          </p:cNvPicPr>
          <p:nvPr/>
        </p:nvPicPr>
        <p:blipFill>
          <a:blip r:embed="rId2"/>
          <a:stretch>
            <a:fillRect/>
          </a:stretch>
        </p:blipFill>
        <p:spPr>
          <a:xfrm>
            <a:off x="716280" y="720873"/>
            <a:ext cx="9099085" cy="1779277"/>
          </a:xfrm>
          <a:prstGeom prst="rect">
            <a:avLst/>
          </a:prstGeom>
        </p:spPr>
      </p:pic>
    </p:spTree>
    <p:extLst>
      <p:ext uri="{BB962C8B-B14F-4D97-AF65-F5344CB8AC3E}">
        <p14:creationId xmlns:p14="http://schemas.microsoft.com/office/powerpoint/2010/main" val="138517435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F2B47-5CA5-B7C8-398D-20E14B7986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0EA2A3-AA0D-4067-8E00-917E8E2FF78B}"/>
              </a:ext>
            </a:extLst>
          </p:cNvPr>
          <p:cNvSpPr>
            <a:spLocks noGrp="1"/>
          </p:cNvSpPr>
          <p:nvPr>
            <p:ph type="title"/>
          </p:nvPr>
        </p:nvSpPr>
        <p:spPr>
          <a:xfrm>
            <a:off x="716280" y="-315595"/>
            <a:ext cx="10515600" cy="1325563"/>
          </a:xfrm>
        </p:spPr>
        <p:txBody>
          <a:bodyPr/>
          <a:lstStyle/>
          <a:p>
            <a:r>
              <a:rPr lang="en-US" dirty="0"/>
              <a:t>For 1-hop: MPC _field_1hop</a:t>
            </a:r>
          </a:p>
        </p:txBody>
      </p:sp>
      <p:sp>
        <p:nvSpPr>
          <p:cNvPr id="3" name="Content Placeholder 2">
            <a:extLst>
              <a:ext uri="{FF2B5EF4-FFF2-40B4-BE49-F238E27FC236}">
                <a16:creationId xmlns:a16="http://schemas.microsoft.com/office/drawing/2014/main" id="{7BE927F7-7119-9C5D-437C-3EC34B72DC2D}"/>
              </a:ext>
            </a:extLst>
          </p:cNvPr>
          <p:cNvSpPr>
            <a:spLocks noGrp="1"/>
          </p:cNvSpPr>
          <p:nvPr>
            <p:ph idx="1"/>
          </p:nvPr>
        </p:nvSpPr>
        <p:spPr>
          <a:xfrm>
            <a:off x="716280" y="2702559"/>
            <a:ext cx="10515600" cy="4094713"/>
          </a:xfrm>
        </p:spPr>
        <p:txBody>
          <a:bodyPr>
            <a:normAutofit fontScale="92500" lnSpcReduction="20000"/>
          </a:bodyPr>
          <a:lstStyle/>
          <a:p>
            <a:pPr marL="0" indent="0">
              <a:buNone/>
            </a:pPr>
            <a:r>
              <a:rPr lang="en-US" dirty="0"/>
              <a:t>Variables to adjust in MPC _field_1hop :</a:t>
            </a:r>
          </a:p>
          <a:p>
            <a:r>
              <a:rPr lang="en-US" dirty="0" err="1"/>
              <a:t>hf_set</a:t>
            </a:r>
            <a:r>
              <a:rPr lang="en-US" dirty="0"/>
              <a:t>['</a:t>
            </a:r>
            <a:r>
              <a:rPr lang="en-US" dirty="0" err="1"/>
              <a:t>TElapsed_in_harmon</a:t>
            </a:r>
            <a:r>
              <a:rPr lang="en-US" dirty="0"/>
              <a:t>]: </a:t>
            </a:r>
          </a:p>
          <a:p>
            <a:pPr lvl="1"/>
            <a:r>
              <a:rPr lang="en-US" dirty="0"/>
              <a:t>if you have bookended harmonizations, it's a good idea to add in a time elapsed term to the harmonization models. if you do not have bookended </a:t>
            </a:r>
            <a:r>
              <a:rPr lang="en-US" dirty="0" err="1"/>
              <a:t>harmonizaitons</a:t>
            </a:r>
            <a:r>
              <a:rPr lang="en-US" dirty="0"/>
              <a:t>, adding in time elapsed is probs a bad idea because it will overcorrect.</a:t>
            </a:r>
          </a:p>
          <a:p>
            <a:r>
              <a:rPr lang="en-US" dirty="0" err="1"/>
              <a:t>hf_set</a:t>
            </a:r>
            <a:r>
              <a:rPr lang="en-US" dirty="0"/>
              <a:t>['</a:t>
            </a:r>
            <a:r>
              <a:rPr lang="en-US" dirty="0" err="1"/>
              <a:t>crop_field_time</a:t>
            </a:r>
            <a:r>
              <a:rPr lang="en-US" dirty="0"/>
              <a:t>]: set to true if you want to crop the field times that are fit/plotted</a:t>
            </a:r>
          </a:p>
          <a:p>
            <a:r>
              <a:rPr lang="en-US" dirty="0" err="1"/>
              <a:t>hf_set</a:t>
            </a:r>
            <a:r>
              <a:rPr lang="en-US" dirty="0"/>
              <a:t>['</a:t>
            </a:r>
            <a:r>
              <a:rPr lang="en-US" dirty="0" err="1"/>
              <a:t>field_start</a:t>
            </a:r>
            <a:r>
              <a:rPr lang="en-US" dirty="0"/>
              <a:t>]: if </a:t>
            </a:r>
            <a:r>
              <a:rPr lang="en-US" dirty="0" err="1"/>
              <a:t>field_crop_time</a:t>
            </a:r>
            <a:r>
              <a:rPr lang="en-US" dirty="0"/>
              <a:t> is True, everything before will be cropped.</a:t>
            </a:r>
            <a:br>
              <a:rPr lang="en-US" dirty="0"/>
            </a:br>
            <a:r>
              <a:rPr lang="en-US" dirty="0" err="1"/>
              <a:t>hf_set</a:t>
            </a:r>
            <a:r>
              <a:rPr lang="en-US" dirty="0"/>
              <a:t>['</a:t>
            </a:r>
            <a:r>
              <a:rPr lang="en-US" dirty="0" err="1"/>
              <a:t>field_end</a:t>
            </a:r>
            <a:r>
              <a:rPr lang="en-US" dirty="0"/>
              <a:t>’] : if </a:t>
            </a:r>
            <a:r>
              <a:rPr lang="en-US" dirty="0" err="1"/>
              <a:t>field_crop_time</a:t>
            </a:r>
            <a:r>
              <a:rPr lang="en-US" dirty="0"/>
              <a:t> is True, everything after will be cropped.</a:t>
            </a:r>
            <a:br>
              <a:rPr lang="en-US" dirty="0"/>
            </a:br>
            <a:endParaRPr lang="en-US" dirty="0"/>
          </a:p>
          <a:p>
            <a:endParaRPr lang="en-US" dirty="0"/>
          </a:p>
        </p:txBody>
      </p:sp>
      <p:pic>
        <p:nvPicPr>
          <p:cNvPr id="5" name="Picture 4">
            <a:extLst>
              <a:ext uri="{FF2B5EF4-FFF2-40B4-BE49-F238E27FC236}">
                <a16:creationId xmlns:a16="http://schemas.microsoft.com/office/drawing/2014/main" id="{46929B83-1BD3-681B-F452-8A947AF91B9B}"/>
              </a:ext>
            </a:extLst>
          </p:cNvPr>
          <p:cNvPicPr>
            <a:picLocks noChangeAspect="1"/>
          </p:cNvPicPr>
          <p:nvPr/>
        </p:nvPicPr>
        <p:blipFill>
          <a:blip r:embed="rId2"/>
          <a:stretch>
            <a:fillRect/>
          </a:stretch>
        </p:blipFill>
        <p:spPr>
          <a:xfrm>
            <a:off x="960120" y="756828"/>
            <a:ext cx="7954485" cy="1848108"/>
          </a:xfrm>
          <a:prstGeom prst="rect">
            <a:avLst/>
          </a:prstGeom>
        </p:spPr>
      </p:pic>
    </p:spTree>
    <p:extLst>
      <p:ext uri="{BB962C8B-B14F-4D97-AF65-F5344CB8AC3E}">
        <p14:creationId xmlns:p14="http://schemas.microsoft.com/office/powerpoint/2010/main" val="88063029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7EAA940-D4E8-E869-AE3A-C1B10B9AF388}"/>
              </a:ext>
            </a:extLst>
          </p:cNvPr>
          <p:cNvSpPr>
            <a:spLocks noGrp="1"/>
          </p:cNvSpPr>
          <p:nvPr>
            <p:ph type="title"/>
          </p:nvPr>
        </p:nvSpPr>
        <p:spPr/>
        <p:txBody>
          <a:bodyPr/>
          <a:lstStyle/>
          <a:p>
            <a:r>
              <a:rPr lang="en-US" dirty="0"/>
              <a:t>For individual </a:t>
            </a:r>
            <a:r>
              <a:rPr lang="en-US" dirty="0" err="1"/>
              <a:t>cal</a:t>
            </a:r>
            <a:r>
              <a:rPr lang="en-US" dirty="0"/>
              <a:t>: Use </a:t>
            </a:r>
            <a:r>
              <a:rPr lang="en-US" dirty="0" err="1"/>
              <a:t>MPC_field_individual</a:t>
            </a:r>
            <a:endParaRPr lang="en-US" dirty="0"/>
          </a:p>
        </p:txBody>
      </p:sp>
      <p:sp>
        <p:nvSpPr>
          <p:cNvPr id="5" name="Content Placeholder 4">
            <a:extLst>
              <a:ext uri="{FF2B5EF4-FFF2-40B4-BE49-F238E27FC236}">
                <a16:creationId xmlns:a16="http://schemas.microsoft.com/office/drawing/2014/main" id="{D86B57E6-E7BC-04F9-EF6A-7B4B74FC71AE}"/>
              </a:ext>
            </a:extLst>
          </p:cNvPr>
          <p:cNvSpPr>
            <a:spLocks noGrp="1"/>
          </p:cNvSpPr>
          <p:nvPr>
            <p:ph idx="1"/>
          </p:nvPr>
        </p:nvSpPr>
        <p:spPr/>
        <p:txBody>
          <a:bodyPr/>
          <a:lstStyle/>
          <a:p>
            <a:pPr>
              <a:spcAft>
                <a:spcPts val="1200"/>
              </a:spcAft>
            </a:pPr>
            <a:r>
              <a:rPr lang="en-US" dirty="0"/>
              <a:t>Applies the colocation model built for each pod in </a:t>
            </a:r>
            <a:r>
              <a:rPr lang="en-US" dirty="0" err="1"/>
              <a:t>MPC_colocation_individual</a:t>
            </a:r>
            <a:r>
              <a:rPr lang="en-US" dirty="0"/>
              <a:t> to each pod’s field data</a:t>
            </a:r>
          </a:p>
          <a:p>
            <a:pPr>
              <a:spcAft>
                <a:spcPts val="1200"/>
              </a:spcAft>
            </a:pPr>
            <a:r>
              <a:rPr lang="en-US" dirty="0"/>
              <a:t>You must choose the model type for each pod, instead of one overall model type</a:t>
            </a:r>
          </a:p>
        </p:txBody>
      </p:sp>
    </p:spTree>
    <p:extLst>
      <p:ext uri="{BB962C8B-B14F-4D97-AF65-F5344CB8AC3E}">
        <p14:creationId xmlns:p14="http://schemas.microsoft.com/office/powerpoint/2010/main" val="279351313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DFE74-C921-B2D5-9C28-52D1D1A08C97}"/>
              </a:ext>
            </a:extLst>
          </p:cNvPr>
          <p:cNvSpPr>
            <a:spLocks noGrp="1"/>
          </p:cNvSpPr>
          <p:nvPr>
            <p:ph type="title"/>
          </p:nvPr>
        </p:nvSpPr>
        <p:spPr/>
        <p:txBody>
          <a:bodyPr/>
          <a:lstStyle/>
          <a:p>
            <a:r>
              <a:rPr lang="en-US" dirty="0"/>
              <a:t>For individual </a:t>
            </a:r>
            <a:r>
              <a:rPr lang="en-US" dirty="0" err="1"/>
              <a:t>cal</a:t>
            </a:r>
            <a:r>
              <a:rPr lang="en-US" dirty="0"/>
              <a:t>: Use </a:t>
            </a:r>
            <a:r>
              <a:rPr lang="en-US" dirty="0" err="1"/>
              <a:t>MPC_field_individual</a:t>
            </a:r>
            <a:endParaRPr lang="en-US" dirty="0"/>
          </a:p>
        </p:txBody>
      </p:sp>
      <p:sp>
        <p:nvSpPr>
          <p:cNvPr id="3" name="Content Placeholder 2">
            <a:extLst>
              <a:ext uri="{FF2B5EF4-FFF2-40B4-BE49-F238E27FC236}">
                <a16:creationId xmlns:a16="http://schemas.microsoft.com/office/drawing/2014/main" id="{5FDCF799-DAB7-D7D1-0146-6749559225F2}"/>
              </a:ext>
            </a:extLst>
          </p:cNvPr>
          <p:cNvSpPr>
            <a:spLocks noGrp="1"/>
          </p:cNvSpPr>
          <p:nvPr>
            <p:ph idx="1"/>
          </p:nvPr>
        </p:nvSpPr>
        <p:spPr>
          <a:xfrm>
            <a:off x="838200" y="3926541"/>
            <a:ext cx="10515600" cy="2931459"/>
          </a:xfrm>
        </p:spPr>
        <p:txBody>
          <a:bodyPr>
            <a:normAutofit fontScale="92500" lnSpcReduction="20000"/>
          </a:bodyPr>
          <a:lstStyle/>
          <a:p>
            <a:r>
              <a:rPr lang="en-US" dirty="0" err="1"/>
              <a:t>hf_set</a:t>
            </a:r>
            <a:r>
              <a:rPr lang="en-US" dirty="0"/>
              <a:t>[‘</a:t>
            </a:r>
            <a:r>
              <a:rPr lang="en-US" dirty="0" err="1"/>
              <a:t>hf_run_name</a:t>
            </a:r>
            <a:r>
              <a:rPr lang="en-US" dirty="0"/>
              <a:t>’]: write what you want to save the output folder name as. If you leave it as ‘’, it will use the current datetime as the name</a:t>
            </a:r>
          </a:p>
          <a:p>
            <a:r>
              <a:rPr lang="en-US" dirty="0" err="1"/>
              <a:t>colo_output_folder</a:t>
            </a:r>
            <a:r>
              <a:rPr lang="en-US" dirty="0"/>
              <a:t>: list the folder name that you want to pull the </a:t>
            </a:r>
            <a:r>
              <a:rPr lang="en-US" dirty="0" err="1"/>
              <a:t>MPC_colocation</a:t>
            </a:r>
            <a:r>
              <a:rPr lang="en-US" dirty="0"/>
              <a:t> results from</a:t>
            </a:r>
          </a:p>
          <a:p>
            <a:r>
              <a:rPr lang="en-US" dirty="0" err="1"/>
              <a:t>hf_set</a:t>
            </a:r>
            <a:r>
              <a:rPr lang="en-US" dirty="0"/>
              <a:t>[‘</a:t>
            </a:r>
            <a:r>
              <a:rPr lang="en-US" dirty="0" err="1"/>
              <a:t>run_field</a:t>
            </a:r>
            <a:r>
              <a:rPr lang="en-US" dirty="0"/>
              <a:t>’]: This should always be true in </a:t>
            </a:r>
            <a:r>
              <a:rPr lang="en-US" dirty="0" err="1"/>
              <a:t>MPC_field_onecal</a:t>
            </a:r>
            <a:r>
              <a:rPr lang="en-US" dirty="0"/>
              <a:t> because otherwise nothing will happen (there is no harmonization step)</a:t>
            </a:r>
          </a:p>
          <a:p>
            <a:r>
              <a:rPr lang="en-US" dirty="0" err="1"/>
              <a:t>hf_set</a:t>
            </a:r>
            <a:r>
              <a:rPr lang="en-US" dirty="0"/>
              <a:t>[‘</a:t>
            </a:r>
            <a:r>
              <a:rPr lang="en-US" dirty="0" err="1"/>
              <a:t>best_model</a:t>
            </a:r>
            <a:r>
              <a:rPr lang="en-US" dirty="0"/>
              <a:t>’]: You must update the pod names listed to match your pod network, and then list the desired model for each individual pod.</a:t>
            </a:r>
          </a:p>
          <a:p>
            <a:endParaRPr lang="en-US" dirty="0"/>
          </a:p>
          <a:p>
            <a:endParaRPr lang="en-US" dirty="0"/>
          </a:p>
        </p:txBody>
      </p:sp>
      <p:pic>
        <p:nvPicPr>
          <p:cNvPr id="5" name="Picture 4">
            <a:extLst>
              <a:ext uri="{FF2B5EF4-FFF2-40B4-BE49-F238E27FC236}">
                <a16:creationId xmlns:a16="http://schemas.microsoft.com/office/drawing/2014/main" id="{9C38354B-4C03-0337-F977-9C5B2BD48036}"/>
              </a:ext>
            </a:extLst>
          </p:cNvPr>
          <p:cNvPicPr>
            <a:picLocks noChangeAspect="1"/>
          </p:cNvPicPr>
          <p:nvPr/>
        </p:nvPicPr>
        <p:blipFill>
          <a:blip r:embed="rId2"/>
          <a:stretch>
            <a:fillRect/>
          </a:stretch>
        </p:blipFill>
        <p:spPr>
          <a:xfrm>
            <a:off x="838200" y="1431386"/>
            <a:ext cx="7964011" cy="2381582"/>
          </a:xfrm>
          <a:prstGeom prst="rect">
            <a:avLst/>
          </a:prstGeom>
        </p:spPr>
      </p:pic>
    </p:spTree>
    <p:extLst>
      <p:ext uri="{BB962C8B-B14F-4D97-AF65-F5344CB8AC3E}">
        <p14:creationId xmlns:p14="http://schemas.microsoft.com/office/powerpoint/2010/main" val="162471640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51F0A-4D28-16C5-F930-8345061A2C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0F2EEC-D6F1-3281-79FC-00946693F930}"/>
              </a:ext>
            </a:extLst>
          </p:cNvPr>
          <p:cNvSpPr>
            <a:spLocks noGrp="1"/>
          </p:cNvSpPr>
          <p:nvPr>
            <p:ph type="title"/>
          </p:nvPr>
        </p:nvSpPr>
        <p:spPr/>
        <p:txBody>
          <a:bodyPr/>
          <a:lstStyle/>
          <a:p>
            <a:r>
              <a:rPr lang="en-US" dirty="0"/>
              <a:t>For individual: Use </a:t>
            </a:r>
            <a:r>
              <a:rPr lang="en-US" dirty="0" err="1"/>
              <a:t>MPC_field_individual</a:t>
            </a:r>
            <a:endParaRPr lang="en-US" dirty="0"/>
          </a:p>
        </p:txBody>
      </p:sp>
      <p:sp>
        <p:nvSpPr>
          <p:cNvPr id="3" name="Content Placeholder 2">
            <a:extLst>
              <a:ext uri="{FF2B5EF4-FFF2-40B4-BE49-F238E27FC236}">
                <a16:creationId xmlns:a16="http://schemas.microsoft.com/office/drawing/2014/main" id="{E0C16C3E-7183-EE57-9D82-B1BF3F82D0FA}"/>
              </a:ext>
            </a:extLst>
          </p:cNvPr>
          <p:cNvSpPr>
            <a:spLocks noGrp="1"/>
          </p:cNvSpPr>
          <p:nvPr>
            <p:ph idx="1"/>
          </p:nvPr>
        </p:nvSpPr>
        <p:spPr>
          <a:xfrm>
            <a:off x="838200" y="3429001"/>
            <a:ext cx="10515600" cy="3429000"/>
          </a:xfrm>
        </p:spPr>
        <p:txBody>
          <a:bodyPr>
            <a:normAutofit fontScale="92500" lnSpcReduction="20000"/>
          </a:bodyPr>
          <a:lstStyle/>
          <a:p>
            <a:r>
              <a:rPr lang="en-US" dirty="0" err="1"/>
              <a:t>hf_set</a:t>
            </a:r>
            <a:r>
              <a:rPr lang="en-US" dirty="0"/>
              <a:t>[‘</a:t>
            </a:r>
            <a:r>
              <a:rPr lang="en-US" dirty="0" err="1"/>
              <a:t>field_plot_list</a:t>
            </a:r>
            <a:r>
              <a:rPr lang="en-US" dirty="0"/>
              <a:t>’]: the list of plots that you want python to plot</a:t>
            </a:r>
          </a:p>
          <a:p>
            <a:r>
              <a:rPr lang="en-US" dirty="0" err="1"/>
              <a:t>hf_set</a:t>
            </a:r>
            <a:r>
              <a:rPr lang="en-US" dirty="0"/>
              <a:t>['</a:t>
            </a:r>
            <a:r>
              <a:rPr lang="en-US" dirty="0" err="1"/>
              <a:t>crop_field_time</a:t>
            </a:r>
            <a:r>
              <a:rPr lang="en-US" dirty="0"/>
              <a:t>]: set to true if you want to crop the field times that are fit/plotted</a:t>
            </a:r>
          </a:p>
          <a:p>
            <a:r>
              <a:rPr lang="en-US" dirty="0" err="1"/>
              <a:t>hf_set</a:t>
            </a:r>
            <a:r>
              <a:rPr lang="en-US" dirty="0"/>
              <a:t>['</a:t>
            </a:r>
            <a:r>
              <a:rPr lang="en-US" dirty="0" err="1"/>
              <a:t>field_start</a:t>
            </a:r>
            <a:r>
              <a:rPr lang="en-US" dirty="0"/>
              <a:t>]: if </a:t>
            </a:r>
            <a:r>
              <a:rPr lang="en-US" dirty="0" err="1"/>
              <a:t>field_crop_time</a:t>
            </a:r>
            <a:r>
              <a:rPr lang="en-US" dirty="0"/>
              <a:t> is True, everything before will be cropped.</a:t>
            </a:r>
            <a:br>
              <a:rPr lang="en-US" dirty="0"/>
            </a:br>
            <a:r>
              <a:rPr lang="en-US" dirty="0" err="1"/>
              <a:t>hf_set</a:t>
            </a:r>
            <a:r>
              <a:rPr lang="en-US" dirty="0"/>
              <a:t>['</a:t>
            </a:r>
            <a:r>
              <a:rPr lang="en-US" dirty="0" err="1"/>
              <a:t>field_end</a:t>
            </a:r>
            <a:r>
              <a:rPr lang="en-US" dirty="0"/>
              <a:t>’] : if </a:t>
            </a:r>
            <a:r>
              <a:rPr lang="en-US" dirty="0" err="1"/>
              <a:t>field_crop_time</a:t>
            </a:r>
            <a:r>
              <a:rPr lang="en-US" dirty="0"/>
              <a:t> is True, everything after will be cropped.</a:t>
            </a:r>
          </a:p>
          <a:p>
            <a:pPr marL="0" indent="0">
              <a:buNone/>
            </a:pPr>
            <a:r>
              <a:rPr lang="en-US" dirty="0"/>
              <a:t>*** note that time elapsed is not a harmonization option for universal because we do not have a harmonization step. However, time elapsed can be included in the colocation model</a:t>
            </a:r>
          </a:p>
        </p:txBody>
      </p:sp>
      <p:pic>
        <p:nvPicPr>
          <p:cNvPr id="6" name="Picture 5">
            <a:extLst>
              <a:ext uri="{FF2B5EF4-FFF2-40B4-BE49-F238E27FC236}">
                <a16:creationId xmlns:a16="http://schemas.microsoft.com/office/drawing/2014/main" id="{BA258335-2995-0404-7AAE-89555087E83F}"/>
              </a:ext>
            </a:extLst>
          </p:cNvPr>
          <p:cNvPicPr>
            <a:picLocks noChangeAspect="1"/>
          </p:cNvPicPr>
          <p:nvPr/>
        </p:nvPicPr>
        <p:blipFill>
          <a:blip r:embed="rId2"/>
          <a:stretch>
            <a:fillRect/>
          </a:stretch>
        </p:blipFill>
        <p:spPr>
          <a:xfrm>
            <a:off x="838200" y="1537892"/>
            <a:ext cx="7678222" cy="1657581"/>
          </a:xfrm>
          <a:prstGeom prst="rect">
            <a:avLst/>
          </a:prstGeom>
        </p:spPr>
      </p:pic>
    </p:spTree>
    <p:extLst>
      <p:ext uri="{BB962C8B-B14F-4D97-AF65-F5344CB8AC3E}">
        <p14:creationId xmlns:p14="http://schemas.microsoft.com/office/powerpoint/2010/main" val="242063234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59D9F-1292-6605-BE67-0099BB29FE7F}"/>
              </a:ext>
            </a:extLst>
          </p:cNvPr>
          <p:cNvSpPr>
            <a:spLocks noGrp="1"/>
          </p:cNvSpPr>
          <p:nvPr>
            <p:ph type="title"/>
          </p:nvPr>
        </p:nvSpPr>
        <p:spPr/>
        <p:txBody>
          <a:bodyPr/>
          <a:lstStyle/>
          <a:p>
            <a:r>
              <a:rPr lang="en-US" dirty="0"/>
              <a:t>For 1-cal: Use MPC_field_1cal</a:t>
            </a:r>
          </a:p>
        </p:txBody>
      </p:sp>
      <p:sp>
        <p:nvSpPr>
          <p:cNvPr id="3" name="Content Placeholder 2">
            <a:extLst>
              <a:ext uri="{FF2B5EF4-FFF2-40B4-BE49-F238E27FC236}">
                <a16:creationId xmlns:a16="http://schemas.microsoft.com/office/drawing/2014/main" id="{EE2FD032-F3DC-C2EA-3230-3ABE64CB2B79}"/>
              </a:ext>
            </a:extLst>
          </p:cNvPr>
          <p:cNvSpPr>
            <a:spLocks noGrp="1"/>
          </p:cNvSpPr>
          <p:nvPr>
            <p:ph idx="1"/>
          </p:nvPr>
        </p:nvSpPr>
        <p:spPr/>
        <p:txBody>
          <a:bodyPr/>
          <a:lstStyle/>
          <a:p>
            <a:r>
              <a:rPr lang="en-US" dirty="0"/>
              <a:t>Calculates the mean / </a:t>
            </a:r>
            <a:r>
              <a:rPr lang="en-US" dirty="0" err="1"/>
              <a:t>st.dev</a:t>
            </a:r>
            <a:r>
              <a:rPr lang="en-US" dirty="0"/>
              <a:t> of each pod’s harmonization data</a:t>
            </a:r>
          </a:p>
          <a:p>
            <a:r>
              <a:rPr lang="en-US" dirty="0"/>
              <a:t>Applies the harmonization mean/</a:t>
            </a:r>
            <a:r>
              <a:rPr lang="en-US" dirty="0" err="1"/>
              <a:t>st.dev</a:t>
            </a:r>
            <a:r>
              <a:rPr lang="en-US" dirty="0"/>
              <a:t> of each pod to the field data. </a:t>
            </a:r>
          </a:p>
          <a:p>
            <a:pPr lvl="1"/>
            <a:r>
              <a:rPr lang="en-US" dirty="0"/>
              <a:t>This “z-scores” the field data to reduce sensor bias. We use the harmonization data to get the mean/</a:t>
            </a:r>
            <a:r>
              <a:rPr lang="en-US" dirty="0" err="1"/>
              <a:t>st.dev</a:t>
            </a:r>
            <a:r>
              <a:rPr lang="en-US" dirty="0"/>
              <a:t>, instead of directly </a:t>
            </a:r>
            <a:r>
              <a:rPr lang="en-US" dirty="0" err="1"/>
              <a:t>zscoring</a:t>
            </a:r>
            <a:r>
              <a:rPr lang="en-US" dirty="0"/>
              <a:t> the field data, to ensure we aren’t removing any actual </a:t>
            </a:r>
            <a:r>
              <a:rPr lang="en-US" dirty="0" err="1"/>
              <a:t>measurment</a:t>
            </a:r>
            <a:r>
              <a:rPr lang="en-US" dirty="0"/>
              <a:t> differences across field sites (we only want to remove actual sensor bias)</a:t>
            </a:r>
          </a:p>
          <a:p>
            <a:pPr lvl="1"/>
            <a:r>
              <a:rPr lang="en-US" dirty="0"/>
              <a:t>It’s important that all pods cover the same harmonization period so that we don’t introduce bias here</a:t>
            </a:r>
          </a:p>
          <a:p>
            <a:r>
              <a:rPr lang="en-US" dirty="0"/>
              <a:t>Choose your favorite model from MPC_colocation_1hop1cal for each pod, and that model will be applied to the “</a:t>
            </a:r>
            <a:r>
              <a:rPr lang="en-US" dirty="0" err="1"/>
              <a:t>zscored</a:t>
            </a:r>
            <a:r>
              <a:rPr lang="en-US" dirty="0"/>
              <a:t>” field data.</a:t>
            </a:r>
          </a:p>
        </p:txBody>
      </p:sp>
    </p:spTree>
    <p:extLst>
      <p:ext uri="{BB962C8B-B14F-4D97-AF65-F5344CB8AC3E}">
        <p14:creationId xmlns:p14="http://schemas.microsoft.com/office/powerpoint/2010/main" val="347056715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E9A30-C88C-DFFB-0482-43BA743333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873533-7D5E-2498-9325-0A935EE58863}"/>
              </a:ext>
            </a:extLst>
          </p:cNvPr>
          <p:cNvSpPr>
            <a:spLocks noGrp="1"/>
          </p:cNvSpPr>
          <p:nvPr>
            <p:ph type="title"/>
          </p:nvPr>
        </p:nvSpPr>
        <p:spPr/>
        <p:txBody>
          <a:bodyPr/>
          <a:lstStyle/>
          <a:p>
            <a:r>
              <a:rPr lang="en-US" dirty="0"/>
              <a:t>For 1-cal: Use MPC_field_1cal</a:t>
            </a:r>
          </a:p>
        </p:txBody>
      </p:sp>
      <p:sp>
        <p:nvSpPr>
          <p:cNvPr id="3" name="Content Placeholder 2">
            <a:extLst>
              <a:ext uri="{FF2B5EF4-FFF2-40B4-BE49-F238E27FC236}">
                <a16:creationId xmlns:a16="http://schemas.microsoft.com/office/drawing/2014/main" id="{AC98FC1F-6238-197C-25E0-939DB416F542}"/>
              </a:ext>
            </a:extLst>
          </p:cNvPr>
          <p:cNvSpPr>
            <a:spLocks noGrp="1"/>
          </p:cNvSpPr>
          <p:nvPr>
            <p:ph idx="1"/>
          </p:nvPr>
        </p:nvSpPr>
        <p:spPr>
          <a:xfrm>
            <a:off x="838200" y="3778623"/>
            <a:ext cx="10515600" cy="2944905"/>
          </a:xfrm>
        </p:spPr>
        <p:txBody>
          <a:bodyPr>
            <a:normAutofit fontScale="85000" lnSpcReduction="10000"/>
          </a:bodyPr>
          <a:lstStyle/>
          <a:p>
            <a:r>
              <a:rPr lang="en-US" dirty="0" err="1"/>
              <a:t>hf_set</a:t>
            </a:r>
            <a:r>
              <a:rPr lang="en-US" dirty="0"/>
              <a:t>[‘</a:t>
            </a:r>
            <a:r>
              <a:rPr lang="en-US" dirty="0" err="1"/>
              <a:t>hf_run_name</a:t>
            </a:r>
            <a:r>
              <a:rPr lang="en-US" dirty="0"/>
              <a:t>’]: write what you want to save the output folder name as. If you leave it as ‘’, it will use the current datetime as the name</a:t>
            </a:r>
          </a:p>
          <a:p>
            <a:r>
              <a:rPr lang="en-US" dirty="0" err="1"/>
              <a:t>colo_output_folder</a:t>
            </a:r>
            <a:r>
              <a:rPr lang="en-US" dirty="0"/>
              <a:t>: list the folder name that you want to pull the </a:t>
            </a:r>
            <a:r>
              <a:rPr lang="en-US" dirty="0" err="1"/>
              <a:t>MPC_colocation</a:t>
            </a:r>
            <a:r>
              <a:rPr lang="en-US" dirty="0"/>
              <a:t> results from</a:t>
            </a:r>
          </a:p>
          <a:p>
            <a:r>
              <a:rPr lang="en-US" dirty="0" err="1"/>
              <a:t>hf_set</a:t>
            </a:r>
            <a:r>
              <a:rPr lang="en-US" dirty="0"/>
              <a:t>[‘</a:t>
            </a:r>
            <a:r>
              <a:rPr lang="en-US" dirty="0" err="1"/>
              <a:t>run_field</a:t>
            </a:r>
            <a:r>
              <a:rPr lang="en-US" dirty="0"/>
              <a:t>’]: true if you want to apply calibration to field data. False if not (you will only get the z score mean/</a:t>
            </a:r>
            <a:r>
              <a:rPr lang="en-US" dirty="0" err="1"/>
              <a:t>st.dev</a:t>
            </a:r>
            <a:r>
              <a:rPr lang="en-US" dirty="0"/>
              <a:t> from the harmonization then)</a:t>
            </a:r>
          </a:p>
          <a:p>
            <a:r>
              <a:rPr lang="en-US" dirty="0" err="1"/>
              <a:t>hf_set</a:t>
            </a:r>
            <a:r>
              <a:rPr lang="en-US" dirty="0"/>
              <a:t>[‘</a:t>
            </a:r>
            <a:r>
              <a:rPr lang="en-US" dirty="0" err="1"/>
              <a:t>best_model</a:t>
            </a:r>
            <a:r>
              <a:rPr lang="en-US" dirty="0"/>
              <a:t>’]: choose the model that you want to apply to your field data, based on the results in the </a:t>
            </a:r>
            <a:r>
              <a:rPr lang="en-US" dirty="0" err="1"/>
              <a:t>colo_output_folder</a:t>
            </a:r>
            <a:r>
              <a:rPr lang="en-US" dirty="0"/>
              <a:t> </a:t>
            </a:r>
            <a:r>
              <a:rPr lang="en-US" dirty="0" err="1"/>
              <a:t>MPC_colocation</a:t>
            </a:r>
            <a:r>
              <a:rPr lang="en-US" dirty="0"/>
              <a:t> run</a:t>
            </a:r>
          </a:p>
        </p:txBody>
      </p:sp>
      <p:pic>
        <p:nvPicPr>
          <p:cNvPr id="7" name="Picture 6">
            <a:extLst>
              <a:ext uri="{FF2B5EF4-FFF2-40B4-BE49-F238E27FC236}">
                <a16:creationId xmlns:a16="http://schemas.microsoft.com/office/drawing/2014/main" id="{E5721131-91DB-7B34-6F78-65C573E25333}"/>
              </a:ext>
            </a:extLst>
          </p:cNvPr>
          <p:cNvPicPr>
            <a:picLocks noChangeAspect="1"/>
          </p:cNvPicPr>
          <p:nvPr/>
        </p:nvPicPr>
        <p:blipFill>
          <a:blip r:embed="rId2"/>
          <a:stretch>
            <a:fillRect/>
          </a:stretch>
        </p:blipFill>
        <p:spPr>
          <a:xfrm>
            <a:off x="838200" y="1497658"/>
            <a:ext cx="7849695" cy="2124371"/>
          </a:xfrm>
          <a:prstGeom prst="rect">
            <a:avLst/>
          </a:prstGeom>
        </p:spPr>
      </p:pic>
    </p:spTree>
    <p:extLst>
      <p:ext uri="{BB962C8B-B14F-4D97-AF65-F5344CB8AC3E}">
        <p14:creationId xmlns:p14="http://schemas.microsoft.com/office/powerpoint/2010/main" val="127019682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1891A-AA99-47E7-2C21-D679507A88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3E4B5E-5A88-7799-2DC8-9015B0FCC9E9}"/>
              </a:ext>
            </a:extLst>
          </p:cNvPr>
          <p:cNvSpPr>
            <a:spLocks noGrp="1"/>
          </p:cNvSpPr>
          <p:nvPr>
            <p:ph type="title"/>
          </p:nvPr>
        </p:nvSpPr>
        <p:spPr/>
        <p:txBody>
          <a:bodyPr/>
          <a:lstStyle/>
          <a:p>
            <a:r>
              <a:rPr lang="en-US" dirty="0"/>
              <a:t>For 1-cal: Use MPC_field_1cal</a:t>
            </a:r>
          </a:p>
        </p:txBody>
      </p:sp>
      <p:sp>
        <p:nvSpPr>
          <p:cNvPr id="3" name="Content Placeholder 2">
            <a:extLst>
              <a:ext uri="{FF2B5EF4-FFF2-40B4-BE49-F238E27FC236}">
                <a16:creationId xmlns:a16="http://schemas.microsoft.com/office/drawing/2014/main" id="{764120AF-9B5B-DED9-0C95-689EB4C82775}"/>
              </a:ext>
            </a:extLst>
          </p:cNvPr>
          <p:cNvSpPr>
            <a:spLocks noGrp="1"/>
          </p:cNvSpPr>
          <p:nvPr>
            <p:ph idx="1"/>
          </p:nvPr>
        </p:nvSpPr>
        <p:spPr>
          <a:xfrm>
            <a:off x="838200" y="3778623"/>
            <a:ext cx="10515600" cy="2944905"/>
          </a:xfrm>
        </p:spPr>
        <p:txBody>
          <a:bodyPr>
            <a:normAutofit fontScale="85000" lnSpcReduction="20000"/>
          </a:bodyPr>
          <a:lstStyle/>
          <a:p>
            <a:pPr marL="0" indent="0">
              <a:buNone/>
            </a:pPr>
            <a:r>
              <a:rPr lang="en-US" dirty="0"/>
              <a:t>Variables to adjust in MPC_field_1cal:</a:t>
            </a:r>
          </a:p>
          <a:p>
            <a:r>
              <a:rPr lang="en-US" dirty="0" err="1"/>
              <a:t>hf_set</a:t>
            </a:r>
            <a:r>
              <a:rPr lang="en-US" dirty="0"/>
              <a:t>[‘</a:t>
            </a:r>
            <a:r>
              <a:rPr lang="en-US" dirty="0" err="1"/>
              <a:t>field_plot_list</a:t>
            </a:r>
            <a:r>
              <a:rPr lang="en-US" dirty="0"/>
              <a:t>’]: the list of plots that you want python to plot</a:t>
            </a:r>
          </a:p>
          <a:p>
            <a:r>
              <a:rPr lang="en-US" dirty="0" err="1"/>
              <a:t>hf_set</a:t>
            </a:r>
            <a:r>
              <a:rPr lang="en-US" dirty="0"/>
              <a:t>['</a:t>
            </a:r>
            <a:r>
              <a:rPr lang="en-US" dirty="0" err="1"/>
              <a:t>crop_field_time</a:t>
            </a:r>
            <a:r>
              <a:rPr lang="en-US" dirty="0"/>
              <a:t>]: set to true if you want to crop the field times that are fit/plotted</a:t>
            </a:r>
          </a:p>
          <a:p>
            <a:r>
              <a:rPr lang="en-US" dirty="0" err="1"/>
              <a:t>hf_set</a:t>
            </a:r>
            <a:r>
              <a:rPr lang="en-US" dirty="0"/>
              <a:t>['</a:t>
            </a:r>
            <a:r>
              <a:rPr lang="en-US" dirty="0" err="1"/>
              <a:t>field_start</a:t>
            </a:r>
            <a:r>
              <a:rPr lang="en-US" dirty="0"/>
              <a:t>]: if </a:t>
            </a:r>
            <a:r>
              <a:rPr lang="en-US" dirty="0" err="1"/>
              <a:t>field_crop_time</a:t>
            </a:r>
            <a:r>
              <a:rPr lang="en-US" dirty="0"/>
              <a:t> is True, everything before will be cropped.</a:t>
            </a:r>
            <a:br>
              <a:rPr lang="en-US" dirty="0"/>
            </a:br>
            <a:r>
              <a:rPr lang="en-US" dirty="0" err="1"/>
              <a:t>hf_set</a:t>
            </a:r>
            <a:r>
              <a:rPr lang="en-US" dirty="0"/>
              <a:t>['</a:t>
            </a:r>
            <a:r>
              <a:rPr lang="en-US" dirty="0" err="1"/>
              <a:t>field_end</a:t>
            </a:r>
            <a:r>
              <a:rPr lang="en-US" dirty="0"/>
              <a:t>’] : if </a:t>
            </a:r>
            <a:r>
              <a:rPr lang="en-US" dirty="0" err="1"/>
              <a:t>field_crop_time</a:t>
            </a:r>
            <a:r>
              <a:rPr lang="en-US" dirty="0"/>
              <a:t> is True, everything after will be cropped.</a:t>
            </a:r>
          </a:p>
          <a:p>
            <a:pPr marL="0" indent="0">
              <a:buNone/>
            </a:pPr>
            <a:r>
              <a:rPr lang="en-US" dirty="0"/>
              <a:t>*** note that time elapsed is not a harmonization option for 1-cal because we do not have a harmonization step. However, time elapsed can be included in the colocation model</a:t>
            </a:r>
          </a:p>
          <a:p>
            <a:pPr marL="0" indent="0">
              <a:buNone/>
            </a:pPr>
            <a:endParaRPr lang="en-US" dirty="0"/>
          </a:p>
        </p:txBody>
      </p:sp>
      <p:pic>
        <p:nvPicPr>
          <p:cNvPr id="5" name="Picture 4">
            <a:extLst>
              <a:ext uri="{FF2B5EF4-FFF2-40B4-BE49-F238E27FC236}">
                <a16:creationId xmlns:a16="http://schemas.microsoft.com/office/drawing/2014/main" id="{A8279089-A555-3BA6-1642-68C888F49C4E}"/>
              </a:ext>
            </a:extLst>
          </p:cNvPr>
          <p:cNvPicPr>
            <a:picLocks noChangeAspect="1"/>
          </p:cNvPicPr>
          <p:nvPr/>
        </p:nvPicPr>
        <p:blipFill>
          <a:blip r:embed="rId2"/>
          <a:stretch>
            <a:fillRect/>
          </a:stretch>
        </p:blipFill>
        <p:spPr>
          <a:xfrm>
            <a:off x="838200" y="1429441"/>
            <a:ext cx="8068801" cy="2143424"/>
          </a:xfrm>
          <a:prstGeom prst="rect">
            <a:avLst/>
          </a:prstGeom>
        </p:spPr>
      </p:pic>
    </p:spTree>
    <p:extLst>
      <p:ext uri="{BB962C8B-B14F-4D97-AF65-F5344CB8AC3E}">
        <p14:creationId xmlns:p14="http://schemas.microsoft.com/office/powerpoint/2010/main" val="208044299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91935-E879-7F3C-A2AD-481014874293}"/>
              </a:ext>
            </a:extLst>
          </p:cNvPr>
          <p:cNvSpPr>
            <a:spLocks noGrp="1"/>
          </p:cNvSpPr>
          <p:nvPr>
            <p:ph type="title"/>
          </p:nvPr>
        </p:nvSpPr>
        <p:spPr/>
        <p:txBody>
          <a:bodyPr/>
          <a:lstStyle/>
          <a:p>
            <a:r>
              <a:rPr lang="en-US" dirty="0"/>
              <a:t>A note on sensor </a:t>
            </a:r>
            <a:r>
              <a:rPr lang="en-US" dirty="0" err="1"/>
              <a:t>zscoring</a:t>
            </a:r>
            <a:r>
              <a:rPr lang="en-US" dirty="0"/>
              <a:t>/ scaling</a:t>
            </a:r>
          </a:p>
        </p:txBody>
      </p:sp>
      <p:sp>
        <p:nvSpPr>
          <p:cNvPr id="3" name="Content Placeholder 2">
            <a:extLst>
              <a:ext uri="{FF2B5EF4-FFF2-40B4-BE49-F238E27FC236}">
                <a16:creationId xmlns:a16="http://schemas.microsoft.com/office/drawing/2014/main" id="{AEBF98DB-1C6C-EE9F-E9BB-026D16B9A992}"/>
              </a:ext>
            </a:extLst>
          </p:cNvPr>
          <p:cNvSpPr>
            <a:spLocks noGrp="1"/>
          </p:cNvSpPr>
          <p:nvPr>
            <p:ph idx="1"/>
          </p:nvPr>
        </p:nvSpPr>
        <p:spPr/>
        <p:txBody>
          <a:bodyPr>
            <a:normAutofit/>
          </a:bodyPr>
          <a:lstStyle/>
          <a:p>
            <a:r>
              <a:rPr lang="en-US" sz="2000" dirty="0"/>
              <a:t>There are slight differences in how the sensors are </a:t>
            </a:r>
            <a:r>
              <a:rPr lang="en-US" sz="2000" dirty="0" err="1"/>
              <a:t>zscored</a:t>
            </a:r>
            <a:r>
              <a:rPr lang="en-US" sz="2000" dirty="0"/>
              <a:t> depending on whether you run a 1-hop, 1-cal, or individual calibration</a:t>
            </a:r>
          </a:p>
          <a:p>
            <a:r>
              <a:rPr lang="en-US" sz="2000" dirty="0"/>
              <a:t>1-hop: The scaler is set based on the colocation pod’s colocation data. After harmonizing all of the pods, the harmonized field data is scaled using the colocation pod scaler values (as in the mean/ standard deviation of the colocation data)</a:t>
            </a:r>
          </a:p>
          <a:p>
            <a:r>
              <a:rPr lang="en-US" sz="2000" dirty="0"/>
              <a:t>Individual: Each pod has a unique scaler that is set using the pod’s colocation data and applied to the field data</a:t>
            </a:r>
          </a:p>
          <a:p>
            <a:r>
              <a:rPr lang="en-US" sz="2000" dirty="0"/>
              <a:t>1-cal: Each pod has a unique scaler that is set using the pod’s harmonization data and applied to the field data. It is important that the pods all have the same time period for harmonization data! We are trying to remove sensor bias without removing actual field site differences (which would happen if you set the scaler for each pod using the field data)</a:t>
            </a:r>
          </a:p>
        </p:txBody>
      </p:sp>
    </p:spTree>
    <p:extLst>
      <p:ext uri="{BB962C8B-B14F-4D97-AF65-F5344CB8AC3E}">
        <p14:creationId xmlns:p14="http://schemas.microsoft.com/office/powerpoint/2010/main" val="42209070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12822</TotalTime>
  <Words>5027</Words>
  <Application>Microsoft Office PowerPoint</Application>
  <PresentationFormat>Widescreen</PresentationFormat>
  <Paragraphs>329</Paragraphs>
  <Slides>54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54</vt:i4>
      </vt:variant>
    </vt:vector>
  </HeadingPairs>
  <TitlesOfParts>
    <vt:vector size="59" baseType="lpstr">
      <vt:lpstr>Arial</vt:lpstr>
      <vt:lpstr>Calibri</vt:lpstr>
      <vt:lpstr>Calibri Light</vt:lpstr>
      <vt:lpstr>Wingdings</vt:lpstr>
      <vt:lpstr>Office Theme</vt:lpstr>
      <vt:lpstr>Python 1-Hop, 1-cal, individual cal  Main Pod Code</vt:lpstr>
      <vt:lpstr>What this code accomplishes so far:</vt:lpstr>
      <vt:lpstr>Illustrating the difference in 1-hop harmonization </vt:lpstr>
      <vt:lpstr>Colocation 2 (the “Hop”) in Matlab</vt:lpstr>
      <vt:lpstr>Harmonization in Python</vt:lpstr>
      <vt:lpstr>What this code accomplishes so far:</vt:lpstr>
      <vt:lpstr>What this code accomplishes so far:</vt:lpstr>
      <vt:lpstr>Python set up</vt:lpstr>
      <vt:lpstr>Setting up python</vt:lpstr>
      <vt:lpstr>Pycharm set up </vt:lpstr>
      <vt:lpstr>Pycharm set up</vt:lpstr>
      <vt:lpstr>Pycharm set up</vt:lpstr>
      <vt:lpstr>Pycharm set up</vt:lpstr>
      <vt:lpstr>Pycharm note</vt:lpstr>
      <vt:lpstr>Cloning the python scripts through github</vt:lpstr>
      <vt:lpstr>GITHUB LINK</vt:lpstr>
      <vt:lpstr>Cloning python scripts through github</vt:lpstr>
      <vt:lpstr>Folder set up:</vt:lpstr>
      <vt:lpstr>Colocation Folder</vt:lpstr>
      <vt:lpstr>Harmonization Folder (needed for 1-hop and universal cal)</vt:lpstr>
      <vt:lpstr>Field folder</vt:lpstr>
      <vt:lpstr>Deployment log</vt:lpstr>
      <vt:lpstr>PowerPoint Presentation</vt:lpstr>
      <vt:lpstr>Deployment log</vt:lpstr>
      <vt:lpstr>Comparing the two deployment logs</vt:lpstr>
      <vt:lpstr>A note on data file naming conventions</vt:lpstr>
      <vt:lpstr>A note about pod data files and firmware data writing</vt:lpstr>
      <vt:lpstr>Python_Functions folder</vt:lpstr>
      <vt:lpstr>Python_Functions functions</vt:lpstr>
      <vt:lpstr>Python_Functions functions</vt:lpstr>
      <vt:lpstr>Python_Functions functions</vt:lpstr>
      <vt:lpstr>Python_Functions functions</vt:lpstr>
      <vt:lpstr>Balancing the dataset (usually for peak fitting)</vt:lpstr>
      <vt:lpstr>Data weighting</vt:lpstr>
      <vt:lpstr>Data weighting </vt:lpstr>
      <vt:lpstr>Python_Functions functions</vt:lpstr>
      <vt:lpstr>Outputs folder</vt:lpstr>
      <vt:lpstr>Outputs folder files</vt:lpstr>
      <vt:lpstr>MPC_colocation</vt:lpstr>
      <vt:lpstr>Building the colocation model</vt:lpstr>
      <vt:lpstr>Python script choice</vt:lpstr>
      <vt:lpstr>Settings</vt:lpstr>
      <vt:lpstr>Settings[‘column_names’]</vt:lpstr>
      <vt:lpstr>Applying the colocation model to field data</vt:lpstr>
      <vt:lpstr>For 1-hop: Use MPC_field_1hop</vt:lpstr>
      <vt:lpstr>For 1-hop: MPC_field_1hop</vt:lpstr>
      <vt:lpstr>For 1-hop: MPC _field_1hop</vt:lpstr>
      <vt:lpstr>For individual cal: Use MPC_field_individual</vt:lpstr>
      <vt:lpstr>For individual cal: Use MPC_field_individual</vt:lpstr>
      <vt:lpstr>For individual: Use MPC_field_individual</vt:lpstr>
      <vt:lpstr>For 1-cal: Use MPC_field_1cal</vt:lpstr>
      <vt:lpstr>For 1-cal: Use MPC_field_1cal</vt:lpstr>
      <vt:lpstr>For 1-cal: Use MPC_field_1cal</vt:lpstr>
      <vt:lpstr>A note on sensor zscoring/ scaling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1-Hop  Main Pod Code</dc:title>
  <dc:creator>Caroline Frischmon</dc:creator>
  <cp:lastModifiedBy>Caroline Frischmon</cp:lastModifiedBy>
  <cp:revision>14</cp:revision>
  <dcterms:created xsi:type="dcterms:W3CDTF">2023-12-20T01:06:10Z</dcterms:created>
  <dcterms:modified xsi:type="dcterms:W3CDTF">2026-04-30T22:07:48Z</dcterms:modified>
</cp:coreProperties>
</file>